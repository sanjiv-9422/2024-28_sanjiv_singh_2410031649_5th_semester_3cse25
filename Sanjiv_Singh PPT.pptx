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the internship and the university. This presentation covers the 8-week MERN Full Stack virtual internship and the Text Search Indexer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ILM logo" descr="/home/claude/build/iilm_logo.png">    </p:cNvPr>
          <p:cNvPicPr>
            <a:picLocks noChangeAspect="1"/>
          </p:cNvPicPr>
          <p:nvPr/>
        </p:nvPicPr>
        <p:blipFill>
          <a:blip r:embed="rId1"/>
          <a:stretch>
            <a:fillRect/>
          </a:stretch>
        </p:blipFill>
        <p:spPr>
          <a:xfrm>
            <a:off x="365760" y="201168"/>
            <a:ext cx="475488" cy="506578"/>
          </a:xfrm>
          <a:prstGeom prst="rect">
            <a:avLst/>
          </a:prstGeom>
        </p:spPr>
      </p:pic>
      <p:sp>
        <p:nvSpPr>
          <p:cNvPr id="3" name="Text 0"/>
          <p:cNvSpPr txBox="1"/>
          <p:nvPr/>
        </p:nvSpPr>
        <p:spPr>
          <a:xfrm>
            <a:off x="365760" y="475488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MERN Full Stack Development Virtual Internship  |  Sanjiv Singh</a:t>
            </a:r>
            <a:endParaRPr lang="en-US" sz="10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chemeClr val="accent1"/>
          </a:solidFill>
          <a:ln/>
        </p:spPr>
      </p:sp>
      <p:pic>
        <p:nvPicPr>
          <p:cNvPr id="3" name="IILM logo" descr="/home/claude/build/iilm_logo.png">    </p:cNvPr>
          <p:cNvPicPr>
            <a:picLocks noChangeAspect="1"/>
          </p:cNvPicPr>
          <p:nvPr/>
        </p:nvPicPr>
        <p:blipFill>
          <a:blip r:embed="rId1"/>
          <a:stretch>
            <a:fillRect/>
          </a:stretch>
        </p:blipFill>
        <p:spPr>
          <a:xfrm>
            <a:off x="457200" y="320040"/>
            <a:ext cx="713232" cy="75986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320040" y="155448"/>
            <a:ext cx="566928" cy="603504"/>
          </a:xfrm>
          <a:prstGeom prst="rect">
            <a:avLst/>
          </a:prstGeom>
          <a:solidFill>
            <a:srgbClr val="FFFFFF"/>
          </a:solidFill>
          <a:ln/>
        </p:spPr>
      </p:sp>
      <p:pic>
        <p:nvPicPr>
          <p:cNvPr id="3" name="IILM logo" descr="/home/claude/build/iilm_logo.png">    </p:cNvPr>
          <p:cNvPicPr>
            <a:picLocks noChangeAspect="1"/>
          </p:cNvPicPr>
          <p:nvPr/>
        </p:nvPicPr>
        <p:blipFill>
          <a:blip r:embed="rId1"/>
          <a:stretch>
            <a:fillRect/>
          </a:stretch>
        </p:blipFill>
        <p:spPr>
          <a:xfrm>
            <a:off x="365760" y="201168"/>
            <a:ext cx="475488" cy="50657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325880"/>
            <a:ext cx="493776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INTERNSHIP REPORT PRESENTATION</a:t>
            </a:r>
            <a:endParaRPr lang="en-US" sz="1200" dirty="0"/>
          </a:p>
        </p:txBody>
      </p:sp>
      <p:sp>
        <p:nvSpPr>
          <p:cNvPr id="3" name="Text 1"/>
          <p:cNvSpPr txBox="1"/>
          <p:nvPr/>
        </p:nvSpPr>
        <p:spPr>
          <a:xfrm>
            <a:off x="457200" y="1645920"/>
            <a:ext cx="4937760" cy="141732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MERN Full Stack Development Virtual Internship</a:t>
            </a:r>
            <a:endParaRPr lang="en-US" sz="3000" dirty="0"/>
          </a:p>
        </p:txBody>
      </p:sp>
      <p:sp>
        <p:nvSpPr>
          <p:cNvPr id="4" name="Text 2"/>
          <p:cNvSpPr txBox="1"/>
          <p:nvPr/>
        </p:nvSpPr>
        <p:spPr>
          <a:xfrm>
            <a:off x="457200" y="3291840"/>
            <a:ext cx="4937760" cy="548640"/>
          </a:xfrm>
          <a:prstGeom prst="rect">
            <a:avLst/>
          </a:prstGeom>
          <a:noFill/>
          <a:ln/>
        </p:spPr>
        <p:txBody>
          <a:bodyPr wrap="square" lIns="0" tIns="0" rIns="0" bIns="0" rtlCol="0" anchor="t"/>
          <a:lstStyle/>
          <a:p>
            <a:pPr indent="0" marL="0">
              <a:buNone/>
            </a:pPr>
            <a:r>
              <a:rPr lang="en-US" sz="1400" dirty="0">
                <a:solidFill>
                  <a:schemeClr val="accent5"/>
                </a:solidFill>
              </a:rPr>
              <a:t>AICTE – EduSkills Virtual Internship Program  |  Aug – Oct 2026</a:t>
            </a:r>
            <a:endParaRPr lang="en-US" sz="1400" dirty="0"/>
          </a:p>
        </p:txBody>
      </p:sp>
      <p:sp>
        <p:nvSpPr>
          <p:cNvPr id="5" name="Text 3"/>
          <p:cNvSpPr txBox="1"/>
          <p:nvPr/>
        </p:nvSpPr>
        <p:spPr>
          <a:xfrm>
            <a:off x="457200" y="4069080"/>
            <a:ext cx="4937760" cy="594360"/>
          </a:xfrm>
          <a:prstGeom prst="rect">
            <a:avLst/>
          </a:prstGeom>
          <a:noFill/>
          <a:ln/>
        </p:spPr>
        <p:txBody>
          <a:bodyPr wrap="square" lIns="0" tIns="0" rIns="0" bIns="0" rtlCol="0" anchor="ctr"/>
          <a:lstStyle/>
          <a:p>
            <a:pPr indent="0" marL="0">
              <a:buNone/>
            </a:pPr>
            <a:r>
              <a:rPr lang="en-US" sz="1300" dirty="0">
                <a:solidFill>
                  <a:schemeClr val="tx1"/>
                </a:solidFill>
              </a:rPr>
              <a:t>School of Computer Science and Engineering</a:t>
            </a:r>
            <a:endParaRPr lang="en-US" sz="1300" dirty="0"/>
          </a:p>
          <a:p>
            <a:pPr indent="0" marL="0">
              <a:buNone/>
            </a:pPr>
            <a:r>
              <a:rPr lang="en-US" sz="1300" dirty="0">
                <a:solidFill>
                  <a:schemeClr val="tx1"/>
                </a:solidFill>
              </a:rPr>
              <a:t>IILM University, Greater Noida, U.P.</a:t>
            </a:r>
            <a:endParaRPr lang="en-US" sz="1300" dirty="0"/>
          </a:p>
        </p:txBody>
      </p:sp>
      <p:sp>
        <p:nvSpPr>
          <p:cNvPr id="6" name="Text 4"/>
          <p:cNvSpPr txBox="1"/>
          <p:nvPr/>
        </p:nvSpPr>
        <p:spPr>
          <a:xfrm>
            <a:off x="5989320" y="1554480"/>
            <a:ext cx="2834640" cy="274320"/>
          </a:xfrm>
          <a:prstGeom prst="rect">
            <a:avLst/>
          </a:prstGeom>
          <a:noFill/>
          <a:ln/>
        </p:spPr>
        <p:txBody>
          <a:bodyPr wrap="square" lIns="0" tIns="0" rIns="0" bIns="0" rtlCol="0" anchor="ctr"/>
          <a:lstStyle/>
          <a:p>
            <a:pPr indent="0" marL="0">
              <a:buNone/>
            </a:pPr>
            <a:r>
              <a:rPr lang="en-US" sz="1200" dirty="0">
                <a:solidFill>
                  <a:schemeClr val="accent6"/>
                </a:solidFill>
              </a:rPr>
              <a:t>Presented by</a:t>
            </a:r>
            <a:endParaRPr lang="en-US" sz="1200" dirty="0"/>
          </a:p>
        </p:txBody>
      </p:sp>
      <p:sp>
        <p:nvSpPr>
          <p:cNvPr id="7" name="Text 5"/>
          <p:cNvSpPr txBox="1"/>
          <p:nvPr/>
        </p:nvSpPr>
        <p:spPr>
          <a:xfrm>
            <a:off x="5989320" y="1828800"/>
            <a:ext cx="2834640" cy="4572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SANJIV SINGH</a:t>
            </a:r>
            <a:endParaRPr lang="en-US" sz="2400" dirty="0"/>
          </a:p>
        </p:txBody>
      </p:sp>
      <p:sp>
        <p:nvSpPr>
          <p:cNvPr id="8" name="Text 6"/>
          <p:cNvSpPr txBox="1"/>
          <p:nvPr/>
        </p:nvSpPr>
        <p:spPr>
          <a:xfrm>
            <a:off x="5989320" y="2377440"/>
            <a:ext cx="2926080" cy="1005840"/>
          </a:xfrm>
          <a:prstGeom prst="rect">
            <a:avLst/>
          </a:prstGeom>
          <a:noFill/>
          <a:ln/>
        </p:spPr>
        <p:txBody>
          <a:bodyPr wrap="square" lIns="0" tIns="0" rIns="0" bIns="0" rtlCol="0" anchor="t"/>
          <a:lstStyle/>
          <a:p>
            <a:pPr indent="0" marL="0">
              <a:spcAft>
                <a:spcPts val="400"/>
              </a:spcAft>
              <a:buNone/>
            </a:pPr>
            <a:r>
              <a:rPr lang="en-US" sz="1200" dirty="0">
                <a:solidFill>
                  <a:schemeClr val="bg1"/>
                </a:solidFill>
              </a:rPr>
              <a:t>Roll No: 2410031649</a:t>
            </a:r>
            <a:endParaRPr lang="en-US" sz="1200" dirty="0"/>
          </a:p>
          <a:p>
            <a:pPr indent="0" marL="0">
              <a:spcAft>
                <a:spcPts val="400"/>
              </a:spcAft>
              <a:buNone/>
            </a:pPr>
            <a:r>
              <a:rPr lang="en-US" sz="1200" dirty="0">
                <a:solidFill>
                  <a:schemeClr val="bg1"/>
                </a:solidFill>
              </a:rPr>
              <a:t>B.Tech CSE  |  Batch 2024–2028</a:t>
            </a:r>
            <a:endParaRPr lang="en-US" sz="1200" dirty="0"/>
          </a:p>
          <a:p>
            <a:pPr indent="0" marL="0">
              <a:spcAft>
                <a:spcPts val="400"/>
              </a:spcAft>
              <a:buNone/>
            </a:pPr>
            <a:r>
              <a:rPr lang="en-US" sz="1200" dirty="0">
                <a:solidFill>
                  <a:schemeClr val="bg1"/>
                </a:solidFill>
              </a:rPr>
              <a:t>AICTE ID: STU69ebb4588f93c1777054808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Internship at a Glance</a:t>
            </a:r>
            <a:endParaRPr lang="en-US" sz="2800" dirty="0"/>
          </a:p>
        </p:txBody>
      </p:sp>
      <p:sp>
        <p:nvSpPr>
          <p:cNvPr id="3" name="Details card"/>
          <p:cNvSpPr/>
          <p:nvPr/>
        </p:nvSpPr>
        <p:spPr>
          <a:xfrm>
            <a:off x="457200" y="1005840"/>
            <a:ext cx="4572000" cy="352044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143000"/>
            <a:ext cx="1280160" cy="457200"/>
          </a:xfrm>
          <a:prstGeom prst="rect">
            <a:avLst/>
          </a:prstGeom>
          <a:noFill/>
          <a:ln/>
        </p:spPr>
        <p:txBody>
          <a:bodyPr wrap="square" lIns="0" tIns="0" rIns="0" bIns="0" rtlCol="0" anchor="ctr"/>
          <a:lstStyle/>
          <a:p>
            <a:pPr indent="0" marL="0">
              <a:buNone/>
            </a:pPr>
            <a:r>
              <a:rPr lang="en-US" sz="1300" b="1" dirty="0">
                <a:solidFill>
                  <a:schemeClr val="accent1"/>
                </a:solidFill>
              </a:rPr>
              <a:t>Student</a:t>
            </a:r>
            <a:endParaRPr lang="en-US" sz="1300" dirty="0"/>
          </a:p>
        </p:txBody>
      </p:sp>
      <p:sp>
        <p:nvSpPr>
          <p:cNvPr id="5" name="Text 3"/>
          <p:cNvSpPr txBox="1"/>
          <p:nvPr/>
        </p:nvSpPr>
        <p:spPr>
          <a:xfrm>
            <a:off x="1920240" y="1143000"/>
            <a:ext cx="3017520" cy="457200"/>
          </a:xfrm>
          <a:prstGeom prst="rect">
            <a:avLst/>
          </a:prstGeom>
          <a:noFill/>
          <a:ln/>
        </p:spPr>
        <p:txBody>
          <a:bodyPr wrap="square" lIns="0" tIns="0" rIns="0" bIns="0" rtlCol="0" anchor="ctr"/>
          <a:lstStyle/>
          <a:p>
            <a:pPr indent="0" marL="0">
              <a:buNone/>
            </a:pPr>
            <a:r>
              <a:rPr lang="en-US" sz="1400" dirty="0">
                <a:solidFill>
                  <a:schemeClr val="tx1"/>
                </a:solidFill>
              </a:rPr>
              <a:t>Sanjiv Singh</a:t>
            </a:r>
            <a:endParaRPr lang="en-US" sz="1400" dirty="0"/>
          </a:p>
        </p:txBody>
      </p:sp>
      <p:sp>
        <p:nvSpPr>
          <p:cNvPr id="6" name="Text 4"/>
          <p:cNvSpPr txBox="1"/>
          <p:nvPr/>
        </p:nvSpPr>
        <p:spPr>
          <a:xfrm>
            <a:off x="640080" y="1691640"/>
            <a:ext cx="1280160" cy="457200"/>
          </a:xfrm>
          <a:prstGeom prst="rect">
            <a:avLst/>
          </a:prstGeom>
          <a:noFill/>
          <a:ln/>
        </p:spPr>
        <p:txBody>
          <a:bodyPr wrap="square" lIns="0" tIns="0" rIns="0" bIns="0" rtlCol="0" anchor="ctr"/>
          <a:lstStyle/>
          <a:p>
            <a:pPr indent="0" marL="0">
              <a:buNone/>
            </a:pPr>
            <a:r>
              <a:rPr lang="en-US" sz="1300" b="1" dirty="0">
                <a:solidFill>
                  <a:schemeClr val="accent1"/>
                </a:solidFill>
              </a:rPr>
              <a:t>Branch</a:t>
            </a:r>
            <a:endParaRPr lang="en-US" sz="1300" dirty="0"/>
          </a:p>
        </p:txBody>
      </p:sp>
      <p:sp>
        <p:nvSpPr>
          <p:cNvPr id="7" name="Text 5"/>
          <p:cNvSpPr txBox="1"/>
          <p:nvPr/>
        </p:nvSpPr>
        <p:spPr>
          <a:xfrm>
            <a:off x="1920240" y="1691640"/>
            <a:ext cx="3017520" cy="457200"/>
          </a:xfrm>
          <a:prstGeom prst="rect">
            <a:avLst/>
          </a:prstGeom>
          <a:noFill/>
          <a:ln/>
        </p:spPr>
        <p:txBody>
          <a:bodyPr wrap="square" lIns="0" tIns="0" rIns="0" bIns="0" rtlCol="0" anchor="ctr"/>
          <a:lstStyle/>
          <a:p>
            <a:pPr indent="0" marL="0">
              <a:buNone/>
            </a:pPr>
            <a:r>
              <a:rPr lang="en-US" sz="1400" dirty="0">
                <a:solidFill>
                  <a:schemeClr val="tx1"/>
                </a:solidFill>
              </a:rPr>
              <a:t>B.Tech (Computer Engineering)</a:t>
            </a:r>
            <a:endParaRPr lang="en-US" sz="1400" dirty="0"/>
          </a:p>
        </p:txBody>
      </p:sp>
      <p:sp>
        <p:nvSpPr>
          <p:cNvPr id="8" name="Text 6"/>
          <p:cNvSpPr txBox="1"/>
          <p:nvPr/>
        </p:nvSpPr>
        <p:spPr>
          <a:xfrm>
            <a:off x="640080" y="2240280"/>
            <a:ext cx="1280160" cy="457200"/>
          </a:xfrm>
          <a:prstGeom prst="rect">
            <a:avLst/>
          </a:prstGeom>
          <a:noFill/>
          <a:ln/>
        </p:spPr>
        <p:txBody>
          <a:bodyPr wrap="square" lIns="0" tIns="0" rIns="0" bIns="0" rtlCol="0" anchor="ctr"/>
          <a:lstStyle/>
          <a:p>
            <a:pPr indent="0" marL="0">
              <a:buNone/>
            </a:pPr>
            <a:r>
              <a:rPr lang="en-US" sz="1300" b="1" dirty="0">
                <a:solidFill>
                  <a:schemeClr val="accent1"/>
                </a:solidFill>
              </a:rPr>
              <a:t>Institute</a:t>
            </a:r>
            <a:endParaRPr lang="en-US" sz="1300" dirty="0"/>
          </a:p>
        </p:txBody>
      </p:sp>
      <p:sp>
        <p:nvSpPr>
          <p:cNvPr id="9" name="Text 7"/>
          <p:cNvSpPr txBox="1"/>
          <p:nvPr/>
        </p:nvSpPr>
        <p:spPr>
          <a:xfrm>
            <a:off x="1920240" y="2240280"/>
            <a:ext cx="3017520" cy="457200"/>
          </a:xfrm>
          <a:prstGeom prst="rect">
            <a:avLst/>
          </a:prstGeom>
          <a:noFill/>
          <a:ln/>
        </p:spPr>
        <p:txBody>
          <a:bodyPr wrap="square" lIns="0" tIns="0" rIns="0" bIns="0" rtlCol="0" anchor="ctr"/>
          <a:lstStyle/>
          <a:p>
            <a:pPr indent="0" marL="0">
              <a:buNone/>
            </a:pPr>
            <a:r>
              <a:rPr lang="en-US" sz="1400" dirty="0">
                <a:solidFill>
                  <a:schemeClr val="tx1"/>
                </a:solidFill>
              </a:rPr>
              <a:t>IILM University, Greater Noida</a:t>
            </a:r>
            <a:endParaRPr lang="en-US" sz="1400" dirty="0"/>
          </a:p>
        </p:txBody>
      </p:sp>
      <p:sp>
        <p:nvSpPr>
          <p:cNvPr id="10" name="Text 8"/>
          <p:cNvSpPr txBox="1"/>
          <p:nvPr/>
        </p:nvSpPr>
        <p:spPr>
          <a:xfrm>
            <a:off x="640080" y="2788920"/>
            <a:ext cx="1280160" cy="457200"/>
          </a:xfrm>
          <a:prstGeom prst="rect">
            <a:avLst/>
          </a:prstGeom>
          <a:noFill/>
          <a:ln/>
        </p:spPr>
        <p:txBody>
          <a:bodyPr wrap="square" lIns="0" tIns="0" rIns="0" bIns="0" rtlCol="0" anchor="ctr"/>
          <a:lstStyle/>
          <a:p>
            <a:pPr indent="0" marL="0">
              <a:buNone/>
            </a:pPr>
            <a:r>
              <a:rPr lang="en-US" sz="1300" b="1" dirty="0">
                <a:solidFill>
                  <a:schemeClr val="accent1"/>
                </a:solidFill>
              </a:rPr>
              <a:t>Domain</a:t>
            </a:r>
            <a:endParaRPr lang="en-US" sz="1300" dirty="0"/>
          </a:p>
        </p:txBody>
      </p:sp>
      <p:sp>
        <p:nvSpPr>
          <p:cNvPr id="11" name="Text 9"/>
          <p:cNvSpPr txBox="1"/>
          <p:nvPr/>
        </p:nvSpPr>
        <p:spPr>
          <a:xfrm>
            <a:off x="1920240" y="2788920"/>
            <a:ext cx="3017520" cy="457200"/>
          </a:xfrm>
          <a:prstGeom prst="rect">
            <a:avLst/>
          </a:prstGeom>
          <a:noFill/>
          <a:ln/>
        </p:spPr>
        <p:txBody>
          <a:bodyPr wrap="square" lIns="0" tIns="0" rIns="0" bIns="0" rtlCol="0" anchor="ctr"/>
          <a:lstStyle/>
          <a:p>
            <a:pPr indent="0" marL="0">
              <a:buNone/>
            </a:pPr>
            <a:r>
              <a:rPr lang="en-US" sz="1400" dirty="0">
                <a:solidFill>
                  <a:schemeClr val="tx1"/>
                </a:solidFill>
              </a:rPr>
              <a:t>MERN Full Stack Development + Project</a:t>
            </a:r>
            <a:endParaRPr lang="en-US" sz="1400" dirty="0"/>
          </a:p>
        </p:txBody>
      </p:sp>
      <p:sp>
        <p:nvSpPr>
          <p:cNvPr id="12" name="Text 10"/>
          <p:cNvSpPr txBox="1"/>
          <p:nvPr/>
        </p:nvSpPr>
        <p:spPr>
          <a:xfrm>
            <a:off x="640080" y="3337560"/>
            <a:ext cx="1280160" cy="457200"/>
          </a:xfrm>
          <a:prstGeom prst="rect">
            <a:avLst/>
          </a:prstGeom>
          <a:noFill/>
          <a:ln/>
        </p:spPr>
        <p:txBody>
          <a:bodyPr wrap="square" lIns="0" tIns="0" rIns="0" bIns="0" rtlCol="0" anchor="ctr"/>
          <a:lstStyle/>
          <a:p>
            <a:pPr indent="0" marL="0">
              <a:buNone/>
            </a:pPr>
            <a:r>
              <a:rPr lang="en-US" sz="1300" b="1" dirty="0">
                <a:solidFill>
                  <a:schemeClr val="accent1"/>
                </a:solidFill>
              </a:rPr>
              <a:t>Duration</a:t>
            </a:r>
            <a:endParaRPr lang="en-US" sz="1300" dirty="0"/>
          </a:p>
        </p:txBody>
      </p:sp>
      <p:sp>
        <p:nvSpPr>
          <p:cNvPr id="13" name="Text 11"/>
          <p:cNvSpPr txBox="1"/>
          <p:nvPr/>
        </p:nvSpPr>
        <p:spPr>
          <a:xfrm>
            <a:off x="1920240" y="3337560"/>
            <a:ext cx="3017520" cy="457200"/>
          </a:xfrm>
          <a:prstGeom prst="rect">
            <a:avLst/>
          </a:prstGeom>
          <a:noFill/>
          <a:ln/>
        </p:spPr>
        <p:txBody>
          <a:bodyPr wrap="square" lIns="0" tIns="0" rIns="0" bIns="0" rtlCol="0" anchor="ctr"/>
          <a:lstStyle/>
          <a:p>
            <a:pPr indent="0" marL="0">
              <a:buNone/>
            </a:pPr>
            <a:r>
              <a:rPr lang="en-US" sz="1400" dirty="0">
                <a:solidFill>
                  <a:schemeClr val="tx1"/>
                </a:solidFill>
              </a:rPr>
              <a:t>August 2026 – October 2026</a:t>
            </a:r>
            <a:endParaRPr lang="en-US" sz="1400" dirty="0"/>
          </a:p>
        </p:txBody>
      </p:sp>
      <p:sp>
        <p:nvSpPr>
          <p:cNvPr id="14" name="Text 12"/>
          <p:cNvSpPr txBox="1"/>
          <p:nvPr/>
        </p:nvSpPr>
        <p:spPr>
          <a:xfrm>
            <a:off x="640080" y="3886200"/>
            <a:ext cx="1280160" cy="457200"/>
          </a:xfrm>
          <a:prstGeom prst="rect">
            <a:avLst/>
          </a:prstGeom>
          <a:noFill/>
          <a:ln/>
        </p:spPr>
        <p:txBody>
          <a:bodyPr wrap="square" lIns="0" tIns="0" rIns="0" bIns="0" rtlCol="0" anchor="ctr"/>
          <a:lstStyle/>
          <a:p>
            <a:pPr indent="0" marL="0">
              <a:buNone/>
            </a:pPr>
            <a:r>
              <a:rPr lang="en-US" sz="1300" b="1" dirty="0">
                <a:solidFill>
                  <a:schemeClr val="accent1"/>
                </a:solidFill>
              </a:rPr>
              <a:t>Reference No.</a:t>
            </a:r>
            <a:endParaRPr lang="en-US" sz="1300" dirty="0"/>
          </a:p>
        </p:txBody>
      </p:sp>
      <p:sp>
        <p:nvSpPr>
          <p:cNvPr id="15" name="Text 13"/>
          <p:cNvSpPr txBox="1"/>
          <p:nvPr/>
        </p:nvSpPr>
        <p:spPr>
          <a:xfrm>
            <a:off x="1920240" y="3886200"/>
            <a:ext cx="3017520" cy="457200"/>
          </a:xfrm>
          <a:prstGeom prst="rect">
            <a:avLst/>
          </a:prstGeom>
          <a:noFill/>
          <a:ln/>
        </p:spPr>
        <p:txBody>
          <a:bodyPr wrap="square" lIns="0" tIns="0" rIns="0" bIns="0" rtlCol="0" anchor="ctr"/>
          <a:lstStyle/>
          <a:p>
            <a:pPr indent="0" marL="0">
              <a:buNone/>
            </a:pPr>
            <a:r>
              <a:rPr lang="en-US" sz="1400" dirty="0">
                <a:solidFill>
                  <a:schemeClr val="tx1"/>
                </a:solidFill>
              </a:rPr>
              <a:t>C18Y2026M101533528</a:t>
            </a:r>
            <a:endParaRPr lang="en-US" sz="1400" dirty="0"/>
          </a:p>
        </p:txBody>
      </p:sp>
      <p:sp>
        <p:nvSpPr>
          <p:cNvPr id="16" name="Stat card 1"/>
          <p:cNvSpPr/>
          <p:nvPr/>
        </p:nvSpPr>
        <p:spPr>
          <a:xfrm>
            <a:off x="5349240" y="1005840"/>
            <a:ext cx="1600200" cy="169164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Icon circle"/>
          <p:cNvSpPr/>
          <p:nvPr/>
        </p:nvSpPr>
        <p:spPr>
          <a:xfrm>
            <a:off x="5852160" y="1143000"/>
            <a:ext cx="594360" cy="594360"/>
          </a:xfrm>
          <a:prstGeom prst="ellipse">
            <a:avLst/>
          </a:prstGeom>
          <a:solidFill>
            <a:schemeClr val="accent1"/>
          </a:solidFill>
          <a:ln w="12700">
            <a:solidFill>
              <a:schemeClr val="accent1"/>
            </a:solidFill>
            <a:prstDash val="solid"/>
          </a:ln>
        </p:spPr>
      </p:sp>
      <p:pic>
        <p:nvPicPr>
          <p:cNvPr id="18" name="Image 0" descr="icon">    </p:cNvPr>
          <p:cNvPicPr>
            <a:picLocks noChangeAspect="1"/>
          </p:cNvPicPr>
          <p:nvPr/>
        </p:nvPicPr>
        <p:blipFill>
          <a:blip r:embed="rId1"/>
          <a:stretch>
            <a:fillRect/>
          </a:stretch>
        </p:blipFill>
        <p:spPr>
          <a:xfrm>
            <a:off x="6006694" y="1297534"/>
            <a:ext cx="285293" cy="285293"/>
          </a:xfrm>
          <a:prstGeom prst="rect">
            <a:avLst/>
          </a:prstGeom>
        </p:spPr>
      </p:pic>
      <p:sp>
        <p:nvSpPr>
          <p:cNvPr id="19" name="Text 16"/>
          <p:cNvSpPr txBox="1"/>
          <p:nvPr/>
        </p:nvSpPr>
        <p:spPr>
          <a:xfrm>
            <a:off x="5349240" y="1783080"/>
            <a:ext cx="1600200" cy="50292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8</a:t>
            </a:r>
            <a:endParaRPr lang="en-US" sz="2800" dirty="0"/>
          </a:p>
        </p:txBody>
      </p:sp>
      <p:sp>
        <p:nvSpPr>
          <p:cNvPr id="20" name="Text 17"/>
          <p:cNvSpPr txBox="1"/>
          <p:nvPr/>
        </p:nvSpPr>
        <p:spPr>
          <a:xfrm>
            <a:off x="5349240" y="2286000"/>
            <a:ext cx="1600200" cy="320040"/>
          </a:xfrm>
          <a:prstGeom prst="rect">
            <a:avLst/>
          </a:prstGeom>
          <a:noFill/>
          <a:ln/>
        </p:spPr>
        <p:txBody>
          <a:bodyPr wrap="square" lIns="0" tIns="0" rIns="0" bIns="0" rtlCol="0" anchor="ctr"/>
          <a:lstStyle/>
          <a:p>
            <a:pPr algn="ctr" indent="0" marL="0">
              <a:buNone/>
            </a:pPr>
            <a:r>
              <a:rPr lang="en-US" sz="1200" dirty="0">
                <a:solidFill>
                  <a:schemeClr val="tx1"/>
                </a:solidFill>
              </a:rPr>
              <a:t>Weeks</a:t>
            </a:r>
            <a:endParaRPr lang="en-US" sz="1200" dirty="0"/>
          </a:p>
        </p:txBody>
      </p:sp>
      <p:sp>
        <p:nvSpPr>
          <p:cNvPr id="21" name="Stat card 2"/>
          <p:cNvSpPr/>
          <p:nvPr/>
        </p:nvSpPr>
        <p:spPr>
          <a:xfrm>
            <a:off x="7086600" y="1005840"/>
            <a:ext cx="1600200" cy="169164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Icon circle"/>
          <p:cNvSpPr/>
          <p:nvPr/>
        </p:nvSpPr>
        <p:spPr>
          <a:xfrm>
            <a:off x="7589520" y="1143000"/>
            <a:ext cx="594360" cy="594360"/>
          </a:xfrm>
          <a:prstGeom prst="ellipse">
            <a:avLst/>
          </a:prstGeom>
          <a:solidFill>
            <a:schemeClr val="tx2"/>
          </a:solidFill>
          <a:ln w="12700">
            <a:solidFill>
              <a:schemeClr val="tx2"/>
            </a:solidFill>
            <a:prstDash val="solid"/>
          </a:ln>
        </p:spPr>
      </p:sp>
      <p:pic>
        <p:nvPicPr>
          <p:cNvPr id="23" name="Image 1" descr="icon">    </p:cNvPr>
          <p:cNvPicPr>
            <a:picLocks noChangeAspect="1"/>
          </p:cNvPicPr>
          <p:nvPr/>
        </p:nvPicPr>
        <p:blipFill>
          <a:blip r:embed="rId2"/>
          <a:stretch>
            <a:fillRect/>
          </a:stretch>
        </p:blipFill>
        <p:spPr>
          <a:xfrm>
            <a:off x="7744054" y="1297534"/>
            <a:ext cx="285293" cy="285293"/>
          </a:xfrm>
          <a:prstGeom prst="rect">
            <a:avLst/>
          </a:prstGeom>
        </p:spPr>
      </p:pic>
      <p:sp>
        <p:nvSpPr>
          <p:cNvPr id="24" name="Text 20"/>
          <p:cNvSpPr txBox="1"/>
          <p:nvPr/>
        </p:nvSpPr>
        <p:spPr>
          <a:xfrm>
            <a:off x="7086600" y="1783080"/>
            <a:ext cx="1600200" cy="50292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100%</a:t>
            </a:r>
            <a:endParaRPr lang="en-US" sz="2800" dirty="0"/>
          </a:p>
        </p:txBody>
      </p:sp>
      <p:sp>
        <p:nvSpPr>
          <p:cNvPr id="25" name="Text 21"/>
          <p:cNvSpPr txBox="1"/>
          <p:nvPr/>
        </p:nvSpPr>
        <p:spPr>
          <a:xfrm>
            <a:off x="7086600" y="2286000"/>
            <a:ext cx="1600200" cy="320040"/>
          </a:xfrm>
          <a:prstGeom prst="rect">
            <a:avLst/>
          </a:prstGeom>
          <a:noFill/>
          <a:ln/>
        </p:spPr>
        <p:txBody>
          <a:bodyPr wrap="square" lIns="0" tIns="0" rIns="0" bIns="0" rtlCol="0" anchor="ctr"/>
          <a:lstStyle/>
          <a:p>
            <a:pPr algn="ctr" indent="0" marL="0">
              <a:buNone/>
            </a:pPr>
            <a:r>
              <a:rPr lang="en-US" sz="1200" dirty="0">
                <a:solidFill>
                  <a:schemeClr val="tx1"/>
                </a:solidFill>
              </a:rPr>
              <a:t>Virtual / Online</a:t>
            </a:r>
            <a:endParaRPr lang="en-US" sz="1200" dirty="0"/>
          </a:p>
        </p:txBody>
      </p:sp>
      <p:sp>
        <p:nvSpPr>
          <p:cNvPr id="26" name="Stat card 3"/>
          <p:cNvSpPr/>
          <p:nvPr/>
        </p:nvSpPr>
        <p:spPr>
          <a:xfrm>
            <a:off x="5349240" y="2834640"/>
            <a:ext cx="1600200" cy="169164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Icon circle"/>
          <p:cNvSpPr/>
          <p:nvPr/>
        </p:nvSpPr>
        <p:spPr>
          <a:xfrm>
            <a:off x="5852160" y="2971800"/>
            <a:ext cx="594360" cy="594360"/>
          </a:xfrm>
          <a:prstGeom prst="ellipse">
            <a:avLst/>
          </a:prstGeom>
          <a:solidFill>
            <a:schemeClr val="accent1"/>
          </a:solidFill>
          <a:ln w="12700">
            <a:solidFill>
              <a:schemeClr val="accent1"/>
            </a:solidFill>
            <a:prstDash val="solid"/>
          </a:ln>
        </p:spPr>
      </p:sp>
      <p:pic>
        <p:nvPicPr>
          <p:cNvPr id="28" name="Image 2" descr="icon">    </p:cNvPr>
          <p:cNvPicPr>
            <a:picLocks noChangeAspect="1"/>
          </p:cNvPicPr>
          <p:nvPr/>
        </p:nvPicPr>
        <p:blipFill>
          <a:blip r:embed="rId3"/>
          <a:stretch>
            <a:fillRect/>
          </a:stretch>
        </p:blipFill>
        <p:spPr>
          <a:xfrm>
            <a:off x="6006694" y="3126334"/>
            <a:ext cx="285293" cy="285293"/>
          </a:xfrm>
          <a:prstGeom prst="rect">
            <a:avLst/>
          </a:prstGeom>
        </p:spPr>
      </p:pic>
      <p:sp>
        <p:nvSpPr>
          <p:cNvPr id="29" name="Text 24"/>
          <p:cNvSpPr txBox="1"/>
          <p:nvPr/>
        </p:nvSpPr>
        <p:spPr>
          <a:xfrm>
            <a:off x="5349240" y="3611880"/>
            <a:ext cx="1600200" cy="50292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5</a:t>
            </a:r>
            <a:endParaRPr lang="en-US" sz="2800" dirty="0"/>
          </a:p>
        </p:txBody>
      </p:sp>
      <p:sp>
        <p:nvSpPr>
          <p:cNvPr id="30" name="Text 25"/>
          <p:cNvSpPr txBox="1"/>
          <p:nvPr/>
        </p:nvSpPr>
        <p:spPr>
          <a:xfrm>
            <a:off x="5349240" y="4114800"/>
            <a:ext cx="1600200" cy="320040"/>
          </a:xfrm>
          <a:prstGeom prst="rect">
            <a:avLst/>
          </a:prstGeom>
          <a:noFill/>
          <a:ln/>
        </p:spPr>
        <p:txBody>
          <a:bodyPr wrap="square" lIns="0" tIns="0" rIns="0" bIns="0" rtlCol="0" anchor="ctr"/>
          <a:lstStyle/>
          <a:p>
            <a:pPr algn="ctr" indent="0" marL="0">
              <a:buNone/>
            </a:pPr>
            <a:r>
              <a:rPr lang="en-US" sz="1200" dirty="0">
                <a:solidFill>
                  <a:schemeClr val="tx1"/>
                </a:solidFill>
              </a:rPr>
              <a:t>Project Problems</a:t>
            </a:r>
            <a:endParaRPr lang="en-US" sz="1200" dirty="0"/>
          </a:p>
        </p:txBody>
      </p:sp>
      <p:sp>
        <p:nvSpPr>
          <p:cNvPr id="31" name="Stat card 4"/>
          <p:cNvSpPr/>
          <p:nvPr/>
        </p:nvSpPr>
        <p:spPr>
          <a:xfrm>
            <a:off x="7086600" y="2834640"/>
            <a:ext cx="1600200" cy="169164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2" name="Icon circle"/>
          <p:cNvSpPr/>
          <p:nvPr/>
        </p:nvSpPr>
        <p:spPr>
          <a:xfrm>
            <a:off x="7589520" y="2971800"/>
            <a:ext cx="594360" cy="594360"/>
          </a:xfrm>
          <a:prstGeom prst="ellipse">
            <a:avLst/>
          </a:prstGeom>
          <a:solidFill>
            <a:schemeClr val="tx2"/>
          </a:solidFill>
          <a:ln w="12700">
            <a:solidFill>
              <a:schemeClr val="tx2"/>
            </a:solidFill>
            <a:prstDash val="solid"/>
          </a:ln>
        </p:spPr>
      </p:sp>
      <p:pic>
        <p:nvPicPr>
          <p:cNvPr id="33" name="Image 3" descr="icon">    </p:cNvPr>
          <p:cNvPicPr>
            <a:picLocks noChangeAspect="1"/>
          </p:cNvPicPr>
          <p:nvPr/>
        </p:nvPicPr>
        <p:blipFill>
          <a:blip r:embed="rId4"/>
          <a:stretch>
            <a:fillRect/>
          </a:stretch>
        </p:blipFill>
        <p:spPr>
          <a:xfrm>
            <a:off x="7744054" y="3126334"/>
            <a:ext cx="285293" cy="285293"/>
          </a:xfrm>
          <a:prstGeom prst="rect">
            <a:avLst/>
          </a:prstGeom>
        </p:spPr>
      </p:pic>
      <p:sp>
        <p:nvSpPr>
          <p:cNvPr id="34" name="Text 28"/>
          <p:cNvSpPr txBox="1"/>
          <p:nvPr/>
        </p:nvSpPr>
        <p:spPr>
          <a:xfrm>
            <a:off x="7086600" y="3611880"/>
            <a:ext cx="1600200" cy="50292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1</a:t>
            </a:r>
            <a:endParaRPr lang="en-US" sz="2800" dirty="0"/>
          </a:p>
        </p:txBody>
      </p:sp>
      <p:sp>
        <p:nvSpPr>
          <p:cNvPr id="35" name="Text 29"/>
          <p:cNvSpPr txBox="1"/>
          <p:nvPr/>
        </p:nvSpPr>
        <p:spPr>
          <a:xfrm>
            <a:off x="7086600" y="4114800"/>
            <a:ext cx="1600200" cy="320040"/>
          </a:xfrm>
          <a:prstGeom prst="rect">
            <a:avLst/>
          </a:prstGeom>
          <a:noFill/>
          <a:ln/>
        </p:spPr>
        <p:txBody>
          <a:bodyPr wrap="square" lIns="0" tIns="0" rIns="0" bIns="0" rtlCol="0" anchor="ctr"/>
          <a:lstStyle/>
          <a:p>
            <a:pPr algn="ctr" indent="0" marL="0">
              <a:buNone/>
            </a:pPr>
            <a:r>
              <a:rPr lang="en-US" sz="1200" dirty="0">
                <a:solidFill>
                  <a:schemeClr val="tx1"/>
                </a:solidFill>
              </a:rPr>
              <a:t>Certificate Earned</a:t>
            </a:r>
            <a:endParaRPr lang="en-US" sz="12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Organization Profile</a:t>
            </a:r>
            <a:endParaRPr lang="en-US" sz="2800" dirty="0"/>
          </a:p>
        </p:txBody>
      </p:sp>
      <p:sp>
        <p:nvSpPr>
          <p:cNvPr id="3" name="Org card 1"/>
          <p:cNvSpPr/>
          <p:nvPr/>
        </p:nvSpPr>
        <p:spPr>
          <a:xfrm>
            <a:off x="457200" y="1005840"/>
            <a:ext cx="4023360" cy="123444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685800" y="1325880"/>
            <a:ext cx="594360" cy="59436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840334" y="1480414"/>
            <a:ext cx="285293" cy="285293"/>
          </a:xfrm>
          <a:prstGeom prst="rect">
            <a:avLst/>
          </a:prstGeom>
        </p:spPr>
      </p:pic>
      <p:sp>
        <p:nvSpPr>
          <p:cNvPr id="6" name="Text 3"/>
          <p:cNvSpPr txBox="1"/>
          <p:nvPr/>
        </p:nvSpPr>
        <p:spPr>
          <a:xfrm>
            <a:off x="1508760" y="1188720"/>
            <a:ext cx="2834640" cy="320040"/>
          </a:xfrm>
          <a:prstGeom prst="rect">
            <a:avLst/>
          </a:prstGeom>
          <a:noFill/>
          <a:ln/>
        </p:spPr>
        <p:txBody>
          <a:bodyPr wrap="square" lIns="0" tIns="0" rIns="0" bIns="0" rtlCol="0" anchor="ctr"/>
          <a:lstStyle/>
          <a:p>
            <a:pPr indent="0" marL="0">
              <a:buNone/>
            </a:pPr>
            <a:r>
              <a:rPr lang="en-US" sz="1400" b="1" dirty="0">
                <a:solidFill>
                  <a:schemeClr val="accent1"/>
                </a:solidFill>
              </a:rPr>
              <a:t>Organization</a:t>
            </a:r>
            <a:endParaRPr lang="en-US" sz="1400" dirty="0"/>
          </a:p>
        </p:txBody>
      </p:sp>
      <p:sp>
        <p:nvSpPr>
          <p:cNvPr id="7" name="Text 4"/>
          <p:cNvSpPr txBox="1"/>
          <p:nvPr/>
        </p:nvSpPr>
        <p:spPr>
          <a:xfrm>
            <a:off x="1508760" y="1508760"/>
            <a:ext cx="2834640" cy="594360"/>
          </a:xfrm>
          <a:prstGeom prst="rect">
            <a:avLst/>
          </a:prstGeom>
          <a:noFill/>
          <a:ln/>
        </p:spPr>
        <p:txBody>
          <a:bodyPr wrap="square" lIns="0" tIns="0" rIns="0" bIns="0" rtlCol="0" anchor="t"/>
          <a:lstStyle/>
          <a:p>
            <a:pPr indent="0" marL="0">
              <a:buNone/>
            </a:pPr>
            <a:r>
              <a:rPr lang="en-US" sz="1400" dirty="0">
                <a:solidFill>
                  <a:schemeClr val="tx1"/>
                </a:solidFill>
              </a:rPr>
              <a:t>EduSkills Academy (EduSkills Foundation)</a:t>
            </a:r>
            <a:endParaRPr lang="en-US" sz="1400" dirty="0"/>
          </a:p>
        </p:txBody>
      </p:sp>
      <p:sp>
        <p:nvSpPr>
          <p:cNvPr id="8" name="Org card 2"/>
          <p:cNvSpPr/>
          <p:nvPr/>
        </p:nvSpPr>
        <p:spPr>
          <a:xfrm>
            <a:off x="4617720" y="1005840"/>
            <a:ext cx="4023360" cy="123444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4846320" y="1325880"/>
            <a:ext cx="594360" cy="594360"/>
          </a:xfrm>
          <a:prstGeom prst="ellipse">
            <a:avLst/>
          </a:prstGeom>
          <a:solidFill>
            <a:schemeClr val="tx2"/>
          </a:solidFill>
          <a:ln w="12700">
            <a:solidFill>
              <a:schemeClr val="tx2"/>
            </a:solidFill>
            <a:prstDash val="solid"/>
          </a:ln>
        </p:spPr>
      </p:sp>
      <p:pic>
        <p:nvPicPr>
          <p:cNvPr id="10" name="Image 1" descr="icon">    </p:cNvPr>
          <p:cNvPicPr>
            <a:picLocks noChangeAspect="1"/>
          </p:cNvPicPr>
          <p:nvPr/>
        </p:nvPicPr>
        <p:blipFill>
          <a:blip r:embed="rId2"/>
          <a:stretch>
            <a:fillRect/>
          </a:stretch>
        </p:blipFill>
        <p:spPr>
          <a:xfrm>
            <a:off x="5000854" y="1480414"/>
            <a:ext cx="285293" cy="285293"/>
          </a:xfrm>
          <a:prstGeom prst="rect">
            <a:avLst/>
          </a:prstGeom>
        </p:spPr>
      </p:pic>
      <p:sp>
        <p:nvSpPr>
          <p:cNvPr id="11" name="Text 7"/>
          <p:cNvSpPr txBox="1"/>
          <p:nvPr/>
        </p:nvSpPr>
        <p:spPr>
          <a:xfrm>
            <a:off x="5669280" y="1188720"/>
            <a:ext cx="2834640" cy="320040"/>
          </a:xfrm>
          <a:prstGeom prst="rect">
            <a:avLst/>
          </a:prstGeom>
          <a:noFill/>
          <a:ln/>
        </p:spPr>
        <p:txBody>
          <a:bodyPr wrap="square" lIns="0" tIns="0" rIns="0" bIns="0" rtlCol="0" anchor="ctr"/>
          <a:lstStyle/>
          <a:p>
            <a:pPr indent="0" marL="0">
              <a:buNone/>
            </a:pPr>
            <a:r>
              <a:rPr lang="en-US" sz="1400" b="1" dirty="0">
                <a:solidFill>
                  <a:schemeClr val="accent1"/>
                </a:solidFill>
              </a:rPr>
              <a:t>Domain</a:t>
            </a:r>
            <a:endParaRPr lang="en-US" sz="1400" dirty="0"/>
          </a:p>
        </p:txBody>
      </p:sp>
      <p:sp>
        <p:nvSpPr>
          <p:cNvPr id="12" name="Text 8"/>
          <p:cNvSpPr txBox="1"/>
          <p:nvPr/>
        </p:nvSpPr>
        <p:spPr>
          <a:xfrm>
            <a:off x="5669280" y="1508760"/>
            <a:ext cx="2834640" cy="594360"/>
          </a:xfrm>
          <a:prstGeom prst="rect">
            <a:avLst/>
          </a:prstGeom>
          <a:noFill/>
          <a:ln/>
        </p:spPr>
        <p:txBody>
          <a:bodyPr wrap="square" lIns="0" tIns="0" rIns="0" bIns="0" rtlCol="0" anchor="t"/>
          <a:lstStyle/>
          <a:p>
            <a:pPr indent="0" marL="0">
              <a:buNone/>
            </a:pPr>
            <a:r>
              <a:rPr lang="en-US" sz="1400" dirty="0">
                <a:solidFill>
                  <a:schemeClr val="tx1"/>
                </a:solidFill>
              </a:rPr>
              <a:t>EdTech &amp; Skill Development</a:t>
            </a:r>
            <a:endParaRPr lang="en-US" sz="1400" dirty="0"/>
          </a:p>
        </p:txBody>
      </p:sp>
      <p:sp>
        <p:nvSpPr>
          <p:cNvPr id="13" name="Org card 3"/>
          <p:cNvSpPr/>
          <p:nvPr/>
        </p:nvSpPr>
        <p:spPr>
          <a:xfrm>
            <a:off x="457200" y="2423160"/>
            <a:ext cx="4023360" cy="123444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685800" y="2743200"/>
            <a:ext cx="594360" cy="594360"/>
          </a:xfrm>
          <a:prstGeom prst="ellipse">
            <a:avLst/>
          </a:prstGeom>
          <a:solidFill>
            <a:schemeClr val="accent1"/>
          </a:solidFill>
          <a:ln w="12700">
            <a:solidFill>
              <a:schemeClr val="accent1"/>
            </a:solidFill>
            <a:prstDash val="solid"/>
          </a:ln>
        </p:spPr>
      </p:sp>
      <p:pic>
        <p:nvPicPr>
          <p:cNvPr id="15" name="Image 2" descr="icon">    </p:cNvPr>
          <p:cNvPicPr>
            <a:picLocks noChangeAspect="1"/>
          </p:cNvPicPr>
          <p:nvPr/>
        </p:nvPicPr>
        <p:blipFill>
          <a:blip r:embed="rId3"/>
          <a:stretch>
            <a:fillRect/>
          </a:stretch>
        </p:blipFill>
        <p:spPr>
          <a:xfrm>
            <a:off x="840334" y="2897734"/>
            <a:ext cx="285293" cy="285293"/>
          </a:xfrm>
          <a:prstGeom prst="rect">
            <a:avLst/>
          </a:prstGeom>
        </p:spPr>
      </p:pic>
      <p:sp>
        <p:nvSpPr>
          <p:cNvPr id="16" name="Text 11"/>
          <p:cNvSpPr txBox="1"/>
          <p:nvPr/>
        </p:nvSpPr>
        <p:spPr>
          <a:xfrm>
            <a:off x="1508760" y="2606040"/>
            <a:ext cx="2834640" cy="320040"/>
          </a:xfrm>
          <a:prstGeom prst="rect">
            <a:avLst/>
          </a:prstGeom>
          <a:noFill/>
          <a:ln/>
        </p:spPr>
        <p:txBody>
          <a:bodyPr wrap="square" lIns="0" tIns="0" rIns="0" bIns="0" rtlCol="0" anchor="ctr"/>
          <a:lstStyle/>
          <a:p>
            <a:pPr indent="0" marL="0">
              <a:buNone/>
            </a:pPr>
            <a:r>
              <a:rPr lang="en-US" sz="1400" b="1" dirty="0">
                <a:solidFill>
                  <a:schemeClr val="accent1"/>
                </a:solidFill>
              </a:rPr>
              <a:t>Services</a:t>
            </a:r>
            <a:endParaRPr lang="en-US" sz="1400" dirty="0"/>
          </a:p>
        </p:txBody>
      </p:sp>
      <p:sp>
        <p:nvSpPr>
          <p:cNvPr id="17" name="Text 12"/>
          <p:cNvSpPr txBox="1"/>
          <p:nvPr/>
        </p:nvSpPr>
        <p:spPr>
          <a:xfrm>
            <a:off x="1508760" y="2926080"/>
            <a:ext cx="2834640" cy="594360"/>
          </a:xfrm>
          <a:prstGeom prst="rect">
            <a:avLst/>
          </a:prstGeom>
          <a:noFill/>
          <a:ln/>
        </p:spPr>
        <p:txBody>
          <a:bodyPr wrap="square" lIns="0" tIns="0" rIns="0" bIns="0" rtlCol="0" anchor="t"/>
          <a:lstStyle/>
          <a:p>
            <a:pPr indent="0" marL="0">
              <a:buNone/>
            </a:pPr>
            <a:r>
              <a:rPr lang="en-US" sz="1400" dirty="0">
                <a:solidFill>
                  <a:schemeClr val="tx1"/>
                </a:solidFill>
              </a:rPr>
              <a:t>Virtual Internships</a:t>
            </a:r>
            <a:endParaRPr lang="en-US" sz="1400" dirty="0"/>
          </a:p>
        </p:txBody>
      </p:sp>
      <p:sp>
        <p:nvSpPr>
          <p:cNvPr id="18" name="Org card 4"/>
          <p:cNvSpPr/>
          <p:nvPr/>
        </p:nvSpPr>
        <p:spPr>
          <a:xfrm>
            <a:off x="4617720" y="2423160"/>
            <a:ext cx="4023360" cy="123444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Icon circle"/>
          <p:cNvSpPr/>
          <p:nvPr/>
        </p:nvSpPr>
        <p:spPr>
          <a:xfrm>
            <a:off x="4846320" y="2743200"/>
            <a:ext cx="594360" cy="594360"/>
          </a:xfrm>
          <a:prstGeom prst="ellipse">
            <a:avLst/>
          </a:prstGeom>
          <a:solidFill>
            <a:schemeClr val="tx2"/>
          </a:solidFill>
          <a:ln w="12700">
            <a:solidFill>
              <a:schemeClr val="tx2"/>
            </a:solidFill>
            <a:prstDash val="solid"/>
          </a:ln>
        </p:spPr>
      </p:sp>
      <p:pic>
        <p:nvPicPr>
          <p:cNvPr id="20" name="Image 3" descr="icon">    </p:cNvPr>
          <p:cNvPicPr>
            <a:picLocks noChangeAspect="1"/>
          </p:cNvPicPr>
          <p:nvPr/>
        </p:nvPicPr>
        <p:blipFill>
          <a:blip r:embed="rId4"/>
          <a:stretch>
            <a:fillRect/>
          </a:stretch>
        </p:blipFill>
        <p:spPr>
          <a:xfrm>
            <a:off x="5000854" y="2897734"/>
            <a:ext cx="285293" cy="285293"/>
          </a:xfrm>
          <a:prstGeom prst="rect">
            <a:avLst/>
          </a:prstGeom>
        </p:spPr>
      </p:pic>
      <p:sp>
        <p:nvSpPr>
          <p:cNvPr id="21" name="Text 15"/>
          <p:cNvSpPr txBox="1"/>
          <p:nvPr/>
        </p:nvSpPr>
        <p:spPr>
          <a:xfrm>
            <a:off x="5669280" y="2606040"/>
            <a:ext cx="2834640" cy="320040"/>
          </a:xfrm>
          <a:prstGeom prst="rect">
            <a:avLst/>
          </a:prstGeom>
          <a:noFill/>
          <a:ln/>
        </p:spPr>
        <p:txBody>
          <a:bodyPr wrap="square" lIns="0" tIns="0" rIns="0" bIns="0" rtlCol="0" anchor="ctr"/>
          <a:lstStyle/>
          <a:p>
            <a:pPr indent="0" marL="0">
              <a:buNone/>
            </a:pPr>
            <a:r>
              <a:rPr lang="en-US" sz="1400" b="1" dirty="0">
                <a:solidFill>
                  <a:schemeClr val="accent1"/>
                </a:solidFill>
              </a:rPr>
              <a:t>Vision</a:t>
            </a:r>
            <a:endParaRPr lang="en-US" sz="1400" dirty="0"/>
          </a:p>
        </p:txBody>
      </p:sp>
      <p:sp>
        <p:nvSpPr>
          <p:cNvPr id="22" name="Text 16"/>
          <p:cNvSpPr txBox="1"/>
          <p:nvPr/>
        </p:nvSpPr>
        <p:spPr>
          <a:xfrm>
            <a:off x="5669280" y="2926080"/>
            <a:ext cx="2834640" cy="594360"/>
          </a:xfrm>
          <a:prstGeom prst="rect">
            <a:avLst/>
          </a:prstGeom>
          <a:noFill/>
          <a:ln/>
        </p:spPr>
        <p:txBody>
          <a:bodyPr wrap="square" lIns="0" tIns="0" rIns="0" bIns="0" rtlCol="0" anchor="t"/>
          <a:lstStyle/>
          <a:p>
            <a:pPr indent="0" marL="0">
              <a:buNone/>
            </a:pPr>
            <a:r>
              <a:rPr lang="en-US" sz="1400" dirty="0">
                <a:solidFill>
                  <a:schemeClr val="tx1"/>
                </a:solidFill>
              </a:rPr>
              <a:t>To empower students with industry-relevant skills</a:t>
            </a:r>
            <a:endParaRPr lang="en-US" sz="1400" dirty="0"/>
          </a:p>
        </p:txBody>
      </p:sp>
      <p:sp>
        <p:nvSpPr>
          <p:cNvPr id="23" name="Text 17"/>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400" i="1" dirty="0">
                <a:solidFill>
                  <a:schemeClr val="tx2"/>
                </a:solidFill>
              </a:rPr>
              <a:t>Offered under the patronage of AICTE and the National Internship Portal, Government of India.</a:t>
            </a:r>
            <a:endParaRPr lang="en-US" sz="14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Internship Overview &amp; Evaluation</a:t>
            </a:r>
            <a:endParaRPr lang="en-US" sz="2800" dirty="0"/>
          </a:p>
        </p:txBody>
      </p:sp>
      <p:sp>
        <p:nvSpPr>
          <p:cNvPr id="3" name="Overview card 1"/>
          <p:cNvSpPr/>
          <p:nvPr/>
        </p:nvSpPr>
        <p:spPr>
          <a:xfrm>
            <a:off x="457200" y="1005840"/>
            <a:ext cx="3291840" cy="7315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005840"/>
            <a:ext cx="1188720" cy="731520"/>
          </a:xfrm>
          <a:prstGeom prst="rect">
            <a:avLst/>
          </a:prstGeom>
          <a:noFill/>
          <a:ln/>
        </p:spPr>
        <p:txBody>
          <a:bodyPr wrap="square" lIns="0" tIns="0" rIns="0" bIns="0" rtlCol="0" anchor="ctr"/>
          <a:lstStyle/>
          <a:p>
            <a:pPr indent="0" marL="0">
              <a:buNone/>
            </a:pPr>
            <a:r>
              <a:rPr lang="en-US" sz="1300" b="1" dirty="0">
                <a:solidFill>
                  <a:schemeClr val="accent1"/>
                </a:solidFill>
              </a:rPr>
              <a:t>Mode</a:t>
            </a:r>
            <a:endParaRPr lang="en-US" sz="1300" dirty="0"/>
          </a:p>
        </p:txBody>
      </p:sp>
      <p:sp>
        <p:nvSpPr>
          <p:cNvPr id="5" name="Text 3"/>
          <p:cNvSpPr txBox="1"/>
          <p:nvPr/>
        </p:nvSpPr>
        <p:spPr>
          <a:xfrm>
            <a:off x="1828800" y="1005840"/>
            <a:ext cx="1828800" cy="731520"/>
          </a:xfrm>
          <a:prstGeom prst="rect">
            <a:avLst/>
          </a:prstGeom>
          <a:noFill/>
          <a:ln/>
        </p:spPr>
        <p:txBody>
          <a:bodyPr wrap="square" lIns="0" tIns="0" rIns="0" bIns="0" rtlCol="0" anchor="ctr"/>
          <a:lstStyle/>
          <a:p>
            <a:pPr indent="0" marL="0">
              <a:buNone/>
            </a:pPr>
            <a:r>
              <a:rPr lang="en-US" sz="1500" dirty="0">
                <a:solidFill>
                  <a:schemeClr val="tx1"/>
                </a:solidFill>
              </a:rPr>
              <a:t>Online / Virtual</a:t>
            </a:r>
            <a:endParaRPr lang="en-US" sz="1500" dirty="0"/>
          </a:p>
        </p:txBody>
      </p:sp>
      <p:sp>
        <p:nvSpPr>
          <p:cNvPr id="6" name="Overview card 2"/>
          <p:cNvSpPr/>
          <p:nvPr/>
        </p:nvSpPr>
        <p:spPr>
          <a:xfrm>
            <a:off x="457200" y="1874520"/>
            <a:ext cx="3291840" cy="7315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640080" y="1874520"/>
            <a:ext cx="1188720" cy="731520"/>
          </a:xfrm>
          <a:prstGeom prst="rect">
            <a:avLst/>
          </a:prstGeom>
          <a:noFill/>
          <a:ln/>
        </p:spPr>
        <p:txBody>
          <a:bodyPr wrap="square" lIns="0" tIns="0" rIns="0" bIns="0" rtlCol="0" anchor="ctr"/>
          <a:lstStyle/>
          <a:p>
            <a:pPr indent="0" marL="0">
              <a:buNone/>
            </a:pPr>
            <a:r>
              <a:rPr lang="en-US" sz="1300" b="1" dirty="0">
                <a:solidFill>
                  <a:schemeClr val="accent1"/>
                </a:solidFill>
              </a:rPr>
              <a:t>Duration</a:t>
            </a:r>
            <a:endParaRPr lang="en-US" sz="1300" dirty="0"/>
          </a:p>
        </p:txBody>
      </p:sp>
      <p:sp>
        <p:nvSpPr>
          <p:cNvPr id="8" name="Text 6"/>
          <p:cNvSpPr txBox="1"/>
          <p:nvPr/>
        </p:nvSpPr>
        <p:spPr>
          <a:xfrm>
            <a:off x="1828800" y="1874520"/>
            <a:ext cx="1828800" cy="731520"/>
          </a:xfrm>
          <a:prstGeom prst="rect">
            <a:avLst/>
          </a:prstGeom>
          <a:noFill/>
          <a:ln/>
        </p:spPr>
        <p:txBody>
          <a:bodyPr wrap="square" lIns="0" tIns="0" rIns="0" bIns="0" rtlCol="0" anchor="ctr"/>
          <a:lstStyle/>
          <a:p>
            <a:pPr indent="0" marL="0">
              <a:buNone/>
            </a:pPr>
            <a:r>
              <a:rPr lang="en-US" sz="1500" dirty="0">
                <a:solidFill>
                  <a:schemeClr val="tx1"/>
                </a:solidFill>
              </a:rPr>
              <a:t>8 Weeks</a:t>
            </a:r>
            <a:endParaRPr lang="en-US" sz="1500" dirty="0"/>
          </a:p>
        </p:txBody>
      </p:sp>
      <p:sp>
        <p:nvSpPr>
          <p:cNvPr id="9" name="Overview card 3"/>
          <p:cNvSpPr/>
          <p:nvPr/>
        </p:nvSpPr>
        <p:spPr>
          <a:xfrm>
            <a:off x="457200" y="2743200"/>
            <a:ext cx="3291840" cy="7315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40080" y="2743200"/>
            <a:ext cx="1188720" cy="731520"/>
          </a:xfrm>
          <a:prstGeom prst="rect">
            <a:avLst/>
          </a:prstGeom>
          <a:noFill/>
          <a:ln/>
        </p:spPr>
        <p:txBody>
          <a:bodyPr wrap="square" lIns="0" tIns="0" rIns="0" bIns="0" rtlCol="0" anchor="ctr"/>
          <a:lstStyle/>
          <a:p>
            <a:pPr indent="0" marL="0">
              <a:buNone/>
            </a:pPr>
            <a:r>
              <a:rPr lang="en-US" sz="1300" b="1" dirty="0">
                <a:solidFill>
                  <a:schemeClr val="accent1"/>
                </a:solidFill>
              </a:rPr>
              <a:t>Platform</a:t>
            </a:r>
            <a:endParaRPr lang="en-US" sz="1300" dirty="0"/>
          </a:p>
        </p:txBody>
      </p:sp>
      <p:sp>
        <p:nvSpPr>
          <p:cNvPr id="11" name="Text 9"/>
          <p:cNvSpPr txBox="1"/>
          <p:nvPr/>
        </p:nvSpPr>
        <p:spPr>
          <a:xfrm>
            <a:off x="1828800" y="2743200"/>
            <a:ext cx="1828800" cy="731520"/>
          </a:xfrm>
          <a:prstGeom prst="rect">
            <a:avLst/>
          </a:prstGeom>
          <a:noFill/>
          <a:ln/>
        </p:spPr>
        <p:txBody>
          <a:bodyPr wrap="square" lIns="0" tIns="0" rIns="0" bIns="0" rtlCol="0" anchor="ctr"/>
          <a:lstStyle/>
          <a:p>
            <a:pPr indent="0" marL="0">
              <a:buNone/>
            </a:pPr>
            <a:r>
              <a:rPr lang="en-US" sz="1500" dirty="0">
                <a:solidFill>
                  <a:schemeClr val="tx1"/>
                </a:solidFill>
              </a:rPr>
              <a:t>EduSkills LMS</a:t>
            </a:r>
            <a:endParaRPr lang="en-US" sz="1500" dirty="0"/>
          </a:p>
        </p:txBody>
      </p:sp>
      <p:sp>
        <p:nvSpPr>
          <p:cNvPr id="12" name="Overview card 4"/>
          <p:cNvSpPr/>
          <p:nvPr/>
        </p:nvSpPr>
        <p:spPr>
          <a:xfrm>
            <a:off x="457200" y="3611880"/>
            <a:ext cx="3291840" cy="7315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40080" y="3611880"/>
            <a:ext cx="1188720" cy="731520"/>
          </a:xfrm>
          <a:prstGeom prst="rect">
            <a:avLst/>
          </a:prstGeom>
          <a:noFill/>
          <a:ln/>
        </p:spPr>
        <p:txBody>
          <a:bodyPr wrap="square" lIns="0" tIns="0" rIns="0" bIns="0" rtlCol="0" anchor="ctr"/>
          <a:lstStyle/>
          <a:p>
            <a:pPr indent="0" marL="0">
              <a:buNone/>
            </a:pPr>
            <a:r>
              <a:rPr lang="en-US" sz="1300" b="1" dirty="0">
                <a:solidFill>
                  <a:schemeClr val="accent1"/>
                </a:solidFill>
              </a:rPr>
              <a:t>Role</a:t>
            </a:r>
            <a:endParaRPr lang="en-US" sz="1300" dirty="0"/>
          </a:p>
        </p:txBody>
      </p:sp>
      <p:sp>
        <p:nvSpPr>
          <p:cNvPr id="14" name="Text 12"/>
          <p:cNvSpPr txBox="1"/>
          <p:nvPr/>
        </p:nvSpPr>
        <p:spPr>
          <a:xfrm>
            <a:off x="1828800" y="3611880"/>
            <a:ext cx="1828800" cy="731520"/>
          </a:xfrm>
          <a:prstGeom prst="rect">
            <a:avLst/>
          </a:prstGeom>
          <a:noFill/>
          <a:ln/>
        </p:spPr>
        <p:txBody>
          <a:bodyPr wrap="square" lIns="0" tIns="0" rIns="0" bIns="0" rtlCol="0" anchor="ctr"/>
          <a:lstStyle/>
          <a:p>
            <a:pPr indent="0" marL="0">
              <a:buNone/>
            </a:pPr>
            <a:r>
              <a:rPr lang="en-US" sz="1500" dirty="0">
                <a:solidFill>
                  <a:schemeClr val="tx1"/>
                </a:solidFill>
              </a:rPr>
              <a:t>Intern</a:t>
            </a:r>
            <a:endParaRPr lang="en-US" sz="1500" dirty="0"/>
          </a:p>
        </p:txBody>
      </p:sp>
      <p:sp>
        <p:nvSpPr>
          <p:cNvPr id="15" name="Text 13"/>
          <p:cNvSpPr txBox="1"/>
          <p:nvPr/>
        </p:nvSpPr>
        <p:spPr>
          <a:xfrm>
            <a:off x="4114800" y="960120"/>
            <a:ext cx="457200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How we were evaluated</a:t>
            </a:r>
            <a:endParaRPr lang="en-US" sz="1800" dirty="0"/>
          </a:p>
        </p:txBody>
      </p:sp>
      <p:sp>
        <p:nvSpPr>
          <p:cNvPr id="16" name="Icon circle"/>
          <p:cNvSpPr/>
          <p:nvPr/>
        </p:nvSpPr>
        <p:spPr>
          <a:xfrm>
            <a:off x="4114800" y="1463040"/>
            <a:ext cx="457200" cy="457200"/>
          </a:xfrm>
          <a:prstGeom prst="ellipse">
            <a:avLst/>
          </a:prstGeom>
          <a:solidFill>
            <a:schemeClr val="accent4"/>
          </a:solidFill>
          <a:ln w="12700">
            <a:solidFill>
              <a:schemeClr val="accent4"/>
            </a:solidFill>
            <a:prstDash val="solid"/>
          </a:ln>
        </p:spPr>
      </p:sp>
      <p:pic>
        <p:nvPicPr>
          <p:cNvPr id="17" name="Image 0" descr="icon">    </p:cNvPr>
          <p:cNvPicPr>
            <a:picLocks noChangeAspect="1"/>
          </p:cNvPicPr>
          <p:nvPr/>
        </p:nvPicPr>
        <p:blipFill>
          <a:blip r:embed="rId1"/>
          <a:stretch>
            <a:fillRect/>
          </a:stretch>
        </p:blipFill>
        <p:spPr>
          <a:xfrm>
            <a:off x="4233672" y="1581912"/>
            <a:ext cx="219456" cy="219456"/>
          </a:xfrm>
          <a:prstGeom prst="rect">
            <a:avLst/>
          </a:prstGeom>
        </p:spPr>
      </p:pic>
      <p:sp>
        <p:nvSpPr>
          <p:cNvPr id="18" name="Text 15"/>
          <p:cNvSpPr txBox="1"/>
          <p:nvPr/>
        </p:nvSpPr>
        <p:spPr>
          <a:xfrm>
            <a:off x="4709160" y="1463040"/>
            <a:ext cx="3977640" cy="457200"/>
          </a:xfrm>
          <a:prstGeom prst="rect">
            <a:avLst/>
          </a:prstGeom>
          <a:noFill/>
          <a:ln/>
        </p:spPr>
        <p:txBody>
          <a:bodyPr wrap="square" lIns="0" tIns="0" rIns="0" bIns="0" rtlCol="0" anchor="ctr"/>
          <a:lstStyle/>
          <a:p>
            <a:pPr indent="0" marL="0">
              <a:buNone/>
            </a:pPr>
            <a:r>
              <a:rPr lang="en-US" sz="1400" dirty="0">
                <a:solidFill>
                  <a:schemeClr val="tx1"/>
                </a:solidFill>
              </a:rPr>
              <a:t>Week-wise structured learning plan</a:t>
            </a:r>
            <a:endParaRPr lang="en-US" sz="1400" dirty="0"/>
          </a:p>
        </p:txBody>
      </p:sp>
      <p:sp>
        <p:nvSpPr>
          <p:cNvPr id="19" name="Icon circle"/>
          <p:cNvSpPr/>
          <p:nvPr/>
        </p:nvSpPr>
        <p:spPr>
          <a:xfrm>
            <a:off x="4114800" y="2066544"/>
            <a:ext cx="457200" cy="457200"/>
          </a:xfrm>
          <a:prstGeom prst="ellipse">
            <a:avLst/>
          </a:prstGeom>
          <a:solidFill>
            <a:schemeClr val="accent4"/>
          </a:solidFill>
          <a:ln w="12700">
            <a:solidFill>
              <a:schemeClr val="accent4"/>
            </a:solidFill>
            <a:prstDash val="solid"/>
          </a:ln>
        </p:spPr>
      </p:sp>
      <p:pic>
        <p:nvPicPr>
          <p:cNvPr id="20" name="Image 1" descr="icon">    </p:cNvPr>
          <p:cNvPicPr>
            <a:picLocks noChangeAspect="1"/>
          </p:cNvPicPr>
          <p:nvPr/>
        </p:nvPicPr>
        <p:blipFill>
          <a:blip r:embed="rId2"/>
          <a:stretch>
            <a:fillRect/>
          </a:stretch>
        </p:blipFill>
        <p:spPr>
          <a:xfrm>
            <a:off x="4233672" y="2185416"/>
            <a:ext cx="219456" cy="219456"/>
          </a:xfrm>
          <a:prstGeom prst="rect">
            <a:avLst/>
          </a:prstGeom>
        </p:spPr>
      </p:pic>
      <p:sp>
        <p:nvSpPr>
          <p:cNvPr id="21" name="Text 17"/>
          <p:cNvSpPr txBox="1"/>
          <p:nvPr/>
        </p:nvSpPr>
        <p:spPr>
          <a:xfrm>
            <a:off x="4709160" y="2066544"/>
            <a:ext cx="3977640" cy="457200"/>
          </a:xfrm>
          <a:prstGeom prst="rect">
            <a:avLst/>
          </a:prstGeom>
          <a:noFill/>
          <a:ln/>
        </p:spPr>
        <p:txBody>
          <a:bodyPr wrap="square" lIns="0" tIns="0" rIns="0" bIns="0" rtlCol="0" anchor="ctr"/>
          <a:lstStyle/>
          <a:p>
            <a:pPr indent="0" marL="0">
              <a:buNone/>
            </a:pPr>
            <a:r>
              <a:rPr lang="en-US" sz="1400" dirty="0">
                <a:solidFill>
                  <a:schemeClr val="tx1"/>
                </a:solidFill>
              </a:rPr>
              <a:t>Weekly assessments to track progress</a:t>
            </a:r>
            <a:endParaRPr lang="en-US" sz="1400" dirty="0"/>
          </a:p>
        </p:txBody>
      </p:sp>
      <p:sp>
        <p:nvSpPr>
          <p:cNvPr id="22" name="Icon circle"/>
          <p:cNvSpPr/>
          <p:nvPr/>
        </p:nvSpPr>
        <p:spPr>
          <a:xfrm>
            <a:off x="4114800" y="2670048"/>
            <a:ext cx="457200" cy="457200"/>
          </a:xfrm>
          <a:prstGeom prst="ellipse">
            <a:avLst/>
          </a:prstGeom>
          <a:solidFill>
            <a:schemeClr val="accent4"/>
          </a:solidFill>
          <a:ln w="12700">
            <a:solidFill>
              <a:schemeClr val="accent4"/>
            </a:solidFill>
            <a:prstDash val="solid"/>
          </a:ln>
        </p:spPr>
      </p:sp>
      <p:pic>
        <p:nvPicPr>
          <p:cNvPr id="23" name="Image 2" descr="icon">    </p:cNvPr>
          <p:cNvPicPr>
            <a:picLocks noChangeAspect="1"/>
          </p:cNvPicPr>
          <p:nvPr/>
        </p:nvPicPr>
        <p:blipFill>
          <a:blip r:embed="rId3"/>
          <a:stretch>
            <a:fillRect/>
          </a:stretch>
        </p:blipFill>
        <p:spPr>
          <a:xfrm>
            <a:off x="4233672" y="2788920"/>
            <a:ext cx="219456" cy="219456"/>
          </a:xfrm>
          <a:prstGeom prst="rect">
            <a:avLst/>
          </a:prstGeom>
        </p:spPr>
      </p:pic>
      <p:sp>
        <p:nvSpPr>
          <p:cNvPr id="24" name="Text 19"/>
          <p:cNvSpPr txBox="1"/>
          <p:nvPr/>
        </p:nvSpPr>
        <p:spPr>
          <a:xfrm>
            <a:off x="4709160" y="2670048"/>
            <a:ext cx="3977640" cy="457200"/>
          </a:xfrm>
          <a:prstGeom prst="rect">
            <a:avLst/>
          </a:prstGeom>
          <a:noFill/>
          <a:ln/>
        </p:spPr>
        <p:txBody>
          <a:bodyPr wrap="square" lIns="0" tIns="0" rIns="0" bIns="0" rtlCol="0" anchor="ctr"/>
          <a:lstStyle/>
          <a:p>
            <a:pPr indent="0" marL="0">
              <a:buNone/>
            </a:pPr>
            <a:r>
              <a:rPr lang="en-US" sz="1400" dirty="0">
                <a:solidFill>
                  <a:schemeClr val="tx1"/>
                </a:solidFill>
              </a:rPr>
              <a:t>Project documentation and assignments</a:t>
            </a:r>
            <a:endParaRPr lang="en-US" sz="1400" dirty="0"/>
          </a:p>
        </p:txBody>
      </p:sp>
      <p:sp>
        <p:nvSpPr>
          <p:cNvPr id="25" name="Icon circle"/>
          <p:cNvSpPr/>
          <p:nvPr/>
        </p:nvSpPr>
        <p:spPr>
          <a:xfrm>
            <a:off x="4114800" y="3273552"/>
            <a:ext cx="457200" cy="457200"/>
          </a:xfrm>
          <a:prstGeom prst="ellipse">
            <a:avLst/>
          </a:prstGeom>
          <a:solidFill>
            <a:schemeClr val="accent4"/>
          </a:solidFill>
          <a:ln w="12700">
            <a:solidFill>
              <a:schemeClr val="accent4"/>
            </a:solidFill>
            <a:prstDash val="solid"/>
          </a:ln>
        </p:spPr>
      </p:sp>
      <p:pic>
        <p:nvPicPr>
          <p:cNvPr id="26" name="Image 3" descr="icon">    </p:cNvPr>
          <p:cNvPicPr>
            <a:picLocks noChangeAspect="1"/>
          </p:cNvPicPr>
          <p:nvPr/>
        </p:nvPicPr>
        <p:blipFill>
          <a:blip r:embed="rId4"/>
          <a:stretch>
            <a:fillRect/>
          </a:stretch>
        </p:blipFill>
        <p:spPr>
          <a:xfrm>
            <a:off x="4233672" y="3392424"/>
            <a:ext cx="219456" cy="219456"/>
          </a:xfrm>
          <a:prstGeom prst="rect">
            <a:avLst/>
          </a:prstGeom>
        </p:spPr>
      </p:pic>
      <p:sp>
        <p:nvSpPr>
          <p:cNvPr id="27" name="Text 21"/>
          <p:cNvSpPr txBox="1"/>
          <p:nvPr/>
        </p:nvSpPr>
        <p:spPr>
          <a:xfrm>
            <a:off x="4709160" y="3273552"/>
            <a:ext cx="3977640" cy="457200"/>
          </a:xfrm>
          <a:prstGeom prst="rect">
            <a:avLst/>
          </a:prstGeom>
          <a:noFill/>
          <a:ln/>
        </p:spPr>
        <p:txBody>
          <a:bodyPr wrap="square" lIns="0" tIns="0" rIns="0" bIns="0" rtlCol="0" anchor="ctr"/>
          <a:lstStyle/>
          <a:p>
            <a:pPr indent="0" marL="0">
              <a:buNone/>
            </a:pPr>
            <a:r>
              <a:rPr lang="en-US" sz="1400" dirty="0">
                <a:solidFill>
                  <a:schemeClr val="tx1"/>
                </a:solidFill>
              </a:rPr>
              <a:t>Final Assessment Test in the last week</a:t>
            </a:r>
            <a:endParaRPr lang="en-US" sz="1400" dirty="0"/>
          </a:p>
        </p:txBody>
      </p:sp>
      <p:sp>
        <p:nvSpPr>
          <p:cNvPr id="28" name="Icon circle"/>
          <p:cNvSpPr/>
          <p:nvPr/>
        </p:nvSpPr>
        <p:spPr>
          <a:xfrm>
            <a:off x="4114800" y="3877056"/>
            <a:ext cx="457200" cy="457200"/>
          </a:xfrm>
          <a:prstGeom prst="ellipse">
            <a:avLst/>
          </a:prstGeom>
          <a:solidFill>
            <a:schemeClr val="accent4"/>
          </a:solidFill>
          <a:ln w="12700">
            <a:solidFill>
              <a:schemeClr val="accent4"/>
            </a:solidFill>
            <a:prstDash val="solid"/>
          </a:ln>
        </p:spPr>
      </p:sp>
      <p:pic>
        <p:nvPicPr>
          <p:cNvPr id="29" name="Image 4" descr="icon">    </p:cNvPr>
          <p:cNvPicPr>
            <a:picLocks noChangeAspect="1"/>
          </p:cNvPicPr>
          <p:nvPr/>
        </p:nvPicPr>
        <p:blipFill>
          <a:blip r:embed="rId5"/>
          <a:stretch>
            <a:fillRect/>
          </a:stretch>
        </p:blipFill>
        <p:spPr>
          <a:xfrm>
            <a:off x="4233672" y="3995928"/>
            <a:ext cx="219456" cy="219456"/>
          </a:xfrm>
          <a:prstGeom prst="rect">
            <a:avLst/>
          </a:prstGeom>
        </p:spPr>
      </p:pic>
      <p:sp>
        <p:nvSpPr>
          <p:cNvPr id="30" name="Text 23"/>
          <p:cNvSpPr txBox="1"/>
          <p:nvPr/>
        </p:nvSpPr>
        <p:spPr>
          <a:xfrm>
            <a:off x="4709160" y="3877056"/>
            <a:ext cx="3977640" cy="457200"/>
          </a:xfrm>
          <a:prstGeom prst="rect">
            <a:avLst/>
          </a:prstGeom>
          <a:noFill/>
          <a:ln/>
        </p:spPr>
        <p:txBody>
          <a:bodyPr wrap="square" lIns="0" tIns="0" rIns="0" bIns="0" rtlCol="0" anchor="ctr"/>
          <a:lstStyle/>
          <a:p>
            <a:pPr indent="0" marL="0">
              <a:buNone/>
            </a:pPr>
            <a:r>
              <a:rPr lang="en-US" sz="1400" dirty="0">
                <a:solidFill>
                  <a:schemeClr val="tx1"/>
                </a:solidFill>
              </a:rPr>
              <a:t>Final grade from assessments, projects and final test</a:t>
            </a:r>
            <a:endParaRPr lang="en-US" sz="14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8-Week Learning Journey</a:t>
            </a:r>
            <a:endParaRPr lang="en-US" sz="2800" dirty="0"/>
          </a:p>
        </p:txBody>
      </p:sp>
      <p:sp>
        <p:nvSpPr>
          <p:cNvPr id="3" name="Week card 1"/>
          <p:cNvSpPr/>
          <p:nvPr/>
        </p:nvSpPr>
        <p:spPr>
          <a:xfrm>
            <a:off x="457200" y="1005840"/>
            <a:ext cx="1938528" cy="16002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94360" y="1115568"/>
            <a:ext cx="1645920" cy="320040"/>
          </a:xfrm>
          <a:prstGeom prst="rect">
            <a:avLst/>
          </a:prstGeom>
          <a:noFill/>
          <a:ln/>
        </p:spPr>
        <p:txBody>
          <a:bodyPr wrap="square" lIns="0" tIns="0" rIns="0" bIns="0" rtlCol="0" anchor="ctr"/>
          <a:lstStyle/>
          <a:p>
            <a:pPr indent="0" marL="0">
              <a:buNone/>
            </a:pPr>
            <a:r>
              <a:rPr lang="en-US" sz="1400" b="1" dirty="0">
                <a:solidFill>
                  <a:schemeClr val="accent1"/>
                </a:solidFill>
              </a:rPr>
              <a:t>Week 1</a:t>
            </a:r>
            <a:endParaRPr lang="en-US" sz="1400" dirty="0"/>
          </a:p>
        </p:txBody>
      </p:sp>
      <p:sp>
        <p:nvSpPr>
          <p:cNvPr id="5" name="Text 3"/>
          <p:cNvSpPr txBox="1"/>
          <p:nvPr/>
        </p:nvSpPr>
        <p:spPr>
          <a:xfrm>
            <a:off x="594360" y="1508760"/>
            <a:ext cx="1691640" cy="960120"/>
          </a:xfrm>
          <a:prstGeom prst="rect">
            <a:avLst/>
          </a:prstGeom>
          <a:noFill/>
          <a:ln/>
        </p:spPr>
        <p:txBody>
          <a:bodyPr wrap="square" lIns="0" tIns="0" rIns="0" bIns="0" rtlCol="0" anchor="t"/>
          <a:lstStyle/>
          <a:p>
            <a:pPr indent="0" marL="0">
              <a:buNone/>
            </a:pPr>
            <a:r>
              <a:rPr lang="en-US" sz="1400" dirty="0">
                <a:solidFill>
                  <a:schemeClr val="tx1"/>
                </a:solidFill>
              </a:rPr>
              <a:t>Web Setup &amp; Core JavaScript</a:t>
            </a:r>
            <a:endParaRPr lang="en-US" sz="1400" dirty="0"/>
          </a:p>
        </p:txBody>
      </p:sp>
      <p:sp>
        <p:nvSpPr>
          <p:cNvPr id="6" name="Week card 2"/>
          <p:cNvSpPr/>
          <p:nvPr/>
        </p:nvSpPr>
        <p:spPr>
          <a:xfrm>
            <a:off x="2542032" y="1005840"/>
            <a:ext cx="1938528" cy="16002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2679192" y="1115568"/>
            <a:ext cx="1645920" cy="320040"/>
          </a:xfrm>
          <a:prstGeom prst="rect">
            <a:avLst/>
          </a:prstGeom>
          <a:noFill/>
          <a:ln/>
        </p:spPr>
        <p:txBody>
          <a:bodyPr wrap="square" lIns="0" tIns="0" rIns="0" bIns="0" rtlCol="0" anchor="ctr"/>
          <a:lstStyle/>
          <a:p>
            <a:pPr indent="0" marL="0">
              <a:buNone/>
            </a:pPr>
            <a:r>
              <a:rPr lang="en-US" sz="1400" b="1" dirty="0">
                <a:solidFill>
                  <a:schemeClr val="accent1"/>
                </a:solidFill>
              </a:rPr>
              <a:t>Week 2</a:t>
            </a:r>
            <a:endParaRPr lang="en-US" sz="1400" dirty="0"/>
          </a:p>
        </p:txBody>
      </p:sp>
      <p:sp>
        <p:nvSpPr>
          <p:cNvPr id="8" name="Text 6"/>
          <p:cNvSpPr txBox="1"/>
          <p:nvPr/>
        </p:nvSpPr>
        <p:spPr>
          <a:xfrm>
            <a:off x="2679192" y="1508760"/>
            <a:ext cx="1691640" cy="960120"/>
          </a:xfrm>
          <a:prstGeom prst="rect">
            <a:avLst/>
          </a:prstGeom>
          <a:noFill/>
          <a:ln/>
        </p:spPr>
        <p:txBody>
          <a:bodyPr wrap="square" lIns="0" tIns="0" rIns="0" bIns="0" rtlCol="0" anchor="t"/>
          <a:lstStyle/>
          <a:p>
            <a:pPr indent="0" marL="0">
              <a:buNone/>
            </a:pPr>
            <a:r>
              <a:rPr lang="en-US" sz="1400" dirty="0">
                <a:solidFill>
                  <a:schemeClr val="tx1"/>
                </a:solidFill>
              </a:rPr>
              <a:t>React Fundamentals &amp; Hooks</a:t>
            </a:r>
            <a:endParaRPr lang="en-US" sz="1400" dirty="0"/>
          </a:p>
        </p:txBody>
      </p:sp>
      <p:sp>
        <p:nvSpPr>
          <p:cNvPr id="9" name="Week card 3"/>
          <p:cNvSpPr/>
          <p:nvPr/>
        </p:nvSpPr>
        <p:spPr>
          <a:xfrm>
            <a:off x="4626864" y="1005840"/>
            <a:ext cx="1938528" cy="16002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764024" y="1115568"/>
            <a:ext cx="1645920" cy="320040"/>
          </a:xfrm>
          <a:prstGeom prst="rect">
            <a:avLst/>
          </a:prstGeom>
          <a:noFill/>
          <a:ln/>
        </p:spPr>
        <p:txBody>
          <a:bodyPr wrap="square" lIns="0" tIns="0" rIns="0" bIns="0" rtlCol="0" anchor="ctr"/>
          <a:lstStyle/>
          <a:p>
            <a:pPr indent="0" marL="0">
              <a:buNone/>
            </a:pPr>
            <a:r>
              <a:rPr lang="en-US" sz="1400" b="1" dirty="0">
                <a:solidFill>
                  <a:schemeClr val="accent1"/>
                </a:solidFill>
              </a:rPr>
              <a:t>Week 3</a:t>
            </a:r>
            <a:endParaRPr lang="en-US" sz="1400" dirty="0"/>
          </a:p>
        </p:txBody>
      </p:sp>
      <p:sp>
        <p:nvSpPr>
          <p:cNvPr id="11" name="Text 9"/>
          <p:cNvSpPr txBox="1"/>
          <p:nvPr/>
        </p:nvSpPr>
        <p:spPr>
          <a:xfrm>
            <a:off x="4764024" y="1508760"/>
            <a:ext cx="1691640" cy="960120"/>
          </a:xfrm>
          <a:prstGeom prst="rect">
            <a:avLst/>
          </a:prstGeom>
          <a:noFill/>
          <a:ln/>
        </p:spPr>
        <p:txBody>
          <a:bodyPr wrap="square" lIns="0" tIns="0" rIns="0" bIns="0" rtlCol="0" anchor="t"/>
          <a:lstStyle/>
          <a:p>
            <a:pPr indent="0" marL="0">
              <a:buNone/>
            </a:pPr>
            <a:r>
              <a:rPr lang="en-US" sz="1400" dirty="0">
                <a:solidFill>
                  <a:schemeClr val="tx1"/>
                </a:solidFill>
              </a:rPr>
              <a:t>Context API, Redux Toolkit &amp; Router</a:t>
            </a:r>
            <a:endParaRPr lang="en-US" sz="1400" dirty="0"/>
          </a:p>
        </p:txBody>
      </p:sp>
      <p:sp>
        <p:nvSpPr>
          <p:cNvPr id="12" name="Week card 4"/>
          <p:cNvSpPr/>
          <p:nvPr/>
        </p:nvSpPr>
        <p:spPr>
          <a:xfrm>
            <a:off x="6711696" y="1005840"/>
            <a:ext cx="1938528" cy="16002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848856" y="1115568"/>
            <a:ext cx="1645920" cy="320040"/>
          </a:xfrm>
          <a:prstGeom prst="rect">
            <a:avLst/>
          </a:prstGeom>
          <a:noFill/>
          <a:ln/>
        </p:spPr>
        <p:txBody>
          <a:bodyPr wrap="square" lIns="0" tIns="0" rIns="0" bIns="0" rtlCol="0" anchor="ctr"/>
          <a:lstStyle/>
          <a:p>
            <a:pPr indent="0" marL="0">
              <a:buNone/>
            </a:pPr>
            <a:r>
              <a:rPr lang="en-US" sz="1400" b="1" dirty="0">
                <a:solidFill>
                  <a:schemeClr val="accent1"/>
                </a:solidFill>
              </a:rPr>
              <a:t>Week 4</a:t>
            </a:r>
            <a:endParaRPr lang="en-US" sz="1400" dirty="0"/>
          </a:p>
        </p:txBody>
      </p:sp>
      <p:sp>
        <p:nvSpPr>
          <p:cNvPr id="14" name="Text 12"/>
          <p:cNvSpPr txBox="1"/>
          <p:nvPr/>
        </p:nvSpPr>
        <p:spPr>
          <a:xfrm>
            <a:off x="6848856" y="1508760"/>
            <a:ext cx="1691640" cy="960120"/>
          </a:xfrm>
          <a:prstGeom prst="rect">
            <a:avLst/>
          </a:prstGeom>
          <a:noFill/>
          <a:ln/>
        </p:spPr>
        <p:txBody>
          <a:bodyPr wrap="square" lIns="0" tIns="0" rIns="0" bIns="0" rtlCol="0" anchor="t"/>
          <a:lstStyle/>
          <a:p>
            <a:pPr indent="0" marL="0">
              <a:buNone/>
            </a:pPr>
            <a:r>
              <a:rPr lang="en-US" sz="1400" dirty="0">
                <a:solidFill>
                  <a:schemeClr val="tx1"/>
                </a:solidFill>
              </a:rPr>
              <a:t>TailwindCSS &amp; React SPA</a:t>
            </a:r>
            <a:endParaRPr lang="en-US" sz="1400" dirty="0"/>
          </a:p>
        </p:txBody>
      </p:sp>
      <p:sp>
        <p:nvSpPr>
          <p:cNvPr id="15" name="Week card 5"/>
          <p:cNvSpPr/>
          <p:nvPr/>
        </p:nvSpPr>
        <p:spPr>
          <a:xfrm>
            <a:off x="457200" y="2788920"/>
            <a:ext cx="1938528" cy="160020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594360" y="2898648"/>
            <a:ext cx="1645920" cy="320040"/>
          </a:xfrm>
          <a:prstGeom prst="rect">
            <a:avLst/>
          </a:prstGeom>
          <a:noFill/>
          <a:ln/>
        </p:spPr>
        <p:txBody>
          <a:bodyPr wrap="square" lIns="0" tIns="0" rIns="0" bIns="0" rtlCol="0" anchor="ctr"/>
          <a:lstStyle/>
          <a:p>
            <a:pPr indent="0" marL="0">
              <a:buNone/>
            </a:pPr>
            <a:r>
              <a:rPr lang="en-US" sz="1400" b="1" dirty="0">
                <a:solidFill>
                  <a:schemeClr val="accent1"/>
                </a:solidFill>
              </a:rPr>
              <a:t>Week 5</a:t>
            </a:r>
            <a:endParaRPr lang="en-US" sz="1400" dirty="0"/>
          </a:p>
        </p:txBody>
      </p:sp>
      <p:sp>
        <p:nvSpPr>
          <p:cNvPr id="17" name="Text 15"/>
          <p:cNvSpPr txBox="1"/>
          <p:nvPr/>
        </p:nvSpPr>
        <p:spPr>
          <a:xfrm>
            <a:off x="594360" y="3291840"/>
            <a:ext cx="1691640" cy="960120"/>
          </a:xfrm>
          <a:prstGeom prst="rect">
            <a:avLst/>
          </a:prstGeom>
          <a:noFill/>
          <a:ln/>
        </p:spPr>
        <p:txBody>
          <a:bodyPr wrap="square" lIns="0" tIns="0" rIns="0" bIns="0" rtlCol="0" anchor="t"/>
          <a:lstStyle/>
          <a:p>
            <a:pPr indent="0" marL="0">
              <a:buNone/>
            </a:pPr>
            <a:r>
              <a:rPr lang="en-US" sz="1400" dirty="0">
                <a:solidFill>
                  <a:schemeClr val="tx1"/>
                </a:solidFill>
              </a:rPr>
              <a:t>Node.js, Express &amp; MongoDB</a:t>
            </a:r>
            <a:endParaRPr lang="en-US" sz="1400" dirty="0"/>
          </a:p>
        </p:txBody>
      </p:sp>
      <p:sp>
        <p:nvSpPr>
          <p:cNvPr id="18" name="Week card 6"/>
          <p:cNvSpPr/>
          <p:nvPr/>
        </p:nvSpPr>
        <p:spPr>
          <a:xfrm>
            <a:off x="2542032" y="2788920"/>
            <a:ext cx="1938528" cy="160020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2679192" y="2898648"/>
            <a:ext cx="1645920" cy="320040"/>
          </a:xfrm>
          <a:prstGeom prst="rect">
            <a:avLst/>
          </a:prstGeom>
          <a:noFill/>
          <a:ln/>
        </p:spPr>
        <p:txBody>
          <a:bodyPr wrap="square" lIns="0" tIns="0" rIns="0" bIns="0" rtlCol="0" anchor="ctr"/>
          <a:lstStyle/>
          <a:p>
            <a:pPr indent="0" marL="0">
              <a:buNone/>
            </a:pPr>
            <a:r>
              <a:rPr lang="en-US" sz="1400" b="1" dirty="0">
                <a:solidFill>
                  <a:schemeClr val="accent1"/>
                </a:solidFill>
              </a:rPr>
              <a:t>Week 6</a:t>
            </a:r>
            <a:endParaRPr lang="en-US" sz="1400" dirty="0"/>
          </a:p>
        </p:txBody>
      </p:sp>
      <p:sp>
        <p:nvSpPr>
          <p:cNvPr id="20" name="Text 18"/>
          <p:cNvSpPr txBox="1"/>
          <p:nvPr/>
        </p:nvSpPr>
        <p:spPr>
          <a:xfrm>
            <a:off x="2679192" y="3291840"/>
            <a:ext cx="1691640" cy="960120"/>
          </a:xfrm>
          <a:prstGeom prst="rect">
            <a:avLst/>
          </a:prstGeom>
          <a:noFill/>
          <a:ln/>
        </p:spPr>
        <p:txBody>
          <a:bodyPr wrap="square" lIns="0" tIns="0" rIns="0" bIns="0" rtlCol="0" anchor="t"/>
          <a:lstStyle/>
          <a:p>
            <a:pPr indent="0" marL="0">
              <a:buNone/>
            </a:pPr>
            <a:r>
              <a:rPr lang="en-US" sz="1400" dirty="0">
                <a:solidFill>
                  <a:schemeClr val="tx1"/>
                </a:solidFill>
              </a:rPr>
              <a:t>REST APIs &amp; JWT Auth</a:t>
            </a:r>
            <a:endParaRPr lang="en-US" sz="1400" dirty="0"/>
          </a:p>
        </p:txBody>
      </p:sp>
      <p:sp>
        <p:nvSpPr>
          <p:cNvPr id="21" name="Week card 7"/>
          <p:cNvSpPr/>
          <p:nvPr/>
        </p:nvSpPr>
        <p:spPr>
          <a:xfrm>
            <a:off x="4626864" y="2788920"/>
            <a:ext cx="1938528" cy="160020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4764024" y="2898648"/>
            <a:ext cx="1645920" cy="320040"/>
          </a:xfrm>
          <a:prstGeom prst="rect">
            <a:avLst/>
          </a:prstGeom>
          <a:noFill/>
          <a:ln/>
        </p:spPr>
        <p:txBody>
          <a:bodyPr wrap="square" lIns="0" tIns="0" rIns="0" bIns="0" rtlCol="0" anchor="ctr"/>
          <a:lstStyle/>
          <a:p>
            <a:pPr indent="0" marL="0">
              <a:buNone/>
            </a:pPr>
            <a:r>
              <a:rPr lang="en-US" sz="1400" b="1" dirty="0">
                <a:solidFill>
                  <a:schemeClr val="accent1"/>
                </a:solidFill>
              </a:rPr>
              <a:t>Week 7</a:t>
            </a:r>
            <a:endParaRPr lang="en-US" sz="1400" dirty="0"/>
          </a:p>
        </p:txBody>
      </p:sp>
      <p:sp>
        <p:nvSpPr>
          <p:cNvPr id="23" name="Text 21"/>
          <p:cNvSpPr txBox="1"/>
          <p:nvPr/>
        </p:nvSpPr>
        <p:spPr>
          <a:xfrm>
            <a:off x="4764024" y="3291840"/>
            <a:ext cx="1691640" cy="960120"/>
          </a:xfrm>
          <a:prstGeom prst="rect">
            <a:avLst/>
          </a:prstGeom>
          <a:noFill/>
          <a:ln/>
        </p:spPr>
        <p:txBody>
          <a:bodyPr wrap="square" lIns="0" tIns="0" rIns="0" bIns="0" rtlCol="0" anchor="t"/>
          <a:lstStyle/>
          <a:p>
            <a:pPr indent="0" marL="0">
              <a:buNone/>
            </a:pPr>
            <a:r>
              <a:rPr lang="en-US" sz="1400" dirty="0">
                <a:solidFill>
                  <a:schemeClr val="tx1"/>
                </a:solidFill>
              </a:rPr>
              <a:t>Full-Stack Integration &amp; DevOps</a:t>
            </a:r>
            <a:endParaRPr lang="en-US" sz="1400" dirty="0"/>
          </a:p>
        </p:txBody>
      </p:sp>
      <p:sp>
        <p:nvSpPr>
          <p:cNvPr id="24" name="Week card 8"/>
          <p:cNvSpPr/>
          <p:nvPr/>
        </p:nvSpPr>
        <p:spPr>
          <a:xfrm>
            <a:off x="6711696" y="2788920"/>
            <a:ext cx="1938528" cy="160020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6848856" y="2898648"/>
            <a:ext cx="1645920" cy="320040"/>
          </a:xfrm>
          <a:prstGeom prst="rect">
            <a:avLst/>
          </a:prstGeom>
          <a:noFill/>
          <a:ln/>
        </p:spPr>
        <p:txBody>
          <a:bodyPr wrap="square" lIns="0" tIns="0" rIns="0" bIns="0" rtlCol="0" anchor="ctr"/>
          <a:lstStyle/>
          <a:p>
            <a:pPr indent="0" marL="0">
              <a:buNone/>
            </a:pPr>
            <a:r>
              <a:rPr lang="en-US" sz="1400" b="1" dirty="0">
                <a:solidFill>
                  <a:schemeClr val="accent1"/>
                </a:solidFill>
              </a:rPr>
              <a:t>Week 8</a:t>
            </a:r>
            <a:endParaRPr lang="en-US" sz="1400" dirty="0"/>
          </a:p>
        </p:txBody>
      </p:sp>
      <p:sp>
        <p:nvSpPr>
          <p:cNvPr id="26" name="Text 24"/>
          <p:cNvSpPr txBox="1"/>
          <p:nvPr/>
        </p:nvSpPr>
        <p:spPr>
          <a:xfrm>
            <a:off x="6848856" y="3291840"/>
            <a:ext cx="1691640" cy="960120"/>
          </a:xfrm>
          <a:prstGeom prst="rect">
            <a:avLst/>
          </a:prstGeom>
          <a:noFill/>
          <a:ln/>
        </p:spPr>
        <p:txBody>
          <a:bodyPr wrap="square" lIns="0" tIns="0" rIns="0" bIns="0" rtlCol="0" anchor="t"/>
          <a:lstStyle/>
          <a:p>
            <a:pPr indent="0" marL="0">
              <a:buNone/>
            </a:pPr>
            <a:r>
              <a:rPr lang="en-US" sz="1400" dirty="0">
                <a:solidFill>
                  <a:schemeClr val="tx1"/>
                </a:solidFill>
              </a:rPr>
              <a:t>Capstone: E-commerce Platform</a:t>
            </a:r>
            <a:endParaRPr lang="en-US" sz="1400" dirty="0"/>
          </a:p>
        </p:txBody>
      </p:sp>
      <p:sp>
        <p:nvSpPr>
          <p:cNvPr id="27" name="Text 25"/>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200" i="1" dirty="0">
                <a:solidFill>
                  <a:schemeClr val="accent5"/>
                </a:solidFill>
              </a:rPr>
              <a:t>Frontend (Weeks 1–4)  →  Backend (Weeks 5–6)  →  Integration &amp; Capstone (Weeks 7–8)</a:t>
            </a:r>
            <a:endParaRPr lang="en-US" sz="12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Project: Text Search Indexer</a:t>
            </a:r>
            <a:endParaRPr lang="en-US" sz="2800" dirty="0"/>
          </a:p>
        </p:txBody>
      </p:sp>
      <p:sp>
        <p:nvSpPr>
          <p:cNvPr id="3" name="Problem card"/>
          <p:cNvSpPr/>
          <p:nvPr/>
        </p:nvSpPr>
        <p:spPr>
          <a:xfrm>
            <a:off x="457200" y="960120"/>
            <a:ext cx="4846320" cy="329184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051560"/>
            <a:ext cx="448056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Problem Statement</a:t>
            </a:r>
            <a:endParaRPr lang="en-US" sz="1800" dirty="0"/>
          </a:p>
        </p:txBody>
      </p:sp>
      <p:sp>
        <p:nvSpPr>
          <p:cNvPr id="5" name="Text 3"/>
          <p:cNvSpPr txBox="1"/>
          <p:nvPr/>
        </p:nvSpPr>
        <p:spPr>
          <a:xfrm>
            <a:off x="640080" y="1463040"/>
            <a:ext cx="4480560" cy="2697480"/>
          </a:xfrm>
          <a:prstGeom prst="rect">
            <a:avLst/>
          </a:prstGeom>
          <a:noFill/>
          <a:ln/>
        </p:spPr>
        <p:txBody>
          <a:bodyPr wrap="square" lIns="0" tIns="0" rIns="0" bIns="0" rtlCol="0" anchor="t"/>
          <a:lstStyle/>
          <a:p>
            <a:pPr indent="0" marL="0">
              <a:buNone/>
            </a:pPr>
            <a:r>
              <a:rPr lang="en-US" sz="1600" dirty="0">
                <a:solidFill>
                  <a:schemeClr val="tx1"/>
                </a:solidFill>
              </a:rPr>
              <a:t>A system to process large volumes of text and build an efficient index for rapid searching. Text is tokenized and normalized, then stored in an inverted index mapping each word to the lines it appears on. It supports single-keyword and multi-keyword AND queries, and reports matching lines with keyword occurrence counts.</a:t>
            </a:r>
            <a:endParaRPr lang="en-US" sz="1600" dirty="0"/>
          </a:p>
        </p:txBody>
      </p:sp>
      <p:sp>
        <p:nvSpPr>
          <p:cNvPr id="6" name="Text 4"/>
          <p:cNvSpPr txBox="1"/>
          <p:nvPr/>
        </p:nvSpPr>
        <p:spPr>
          <a:xfrm>
            <a:off x="5577840" y="960120"/>
            <a:ext cx="310896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Objectives</a:t>
            </a:r>
            <a:endParaRPr lang="en-US" sz="1800" dirty="0"/>
          </a:p>
        </p:txBody>
      </p:sp>
      <p:sp>
        <p:nvSpPr>
          <p:cNvPr id="7" name="Icon circle"/>
          <p:cNvSpPr/>
          <p:nvPr/>
        </p:nvSpPr>
        <p:spPr>
          <a:xfrm>
            <a:off x="5577840" y="1463040"/>
            <a:ext cx="502920" cy="502920"/>
          </a:xfrm>
          <a:prstGeom prst="ellipse">
            <a:avLst/>
          </a:prstGeom>
          <a:solidFill>
            <a:schemeClr val="accent1"/>
          </a:solidFill>
          <a:ln w="12700">
            <a:solidFill>
              <a:schemeClr val="accent1"/>
            </a:solidFill>
            <a:prstDash val="solid"/>
          </a:ln>
        </p:spPr>
      </p:sp>
      <p:pic>
        <p:nvPicPr>
          <p:cNvPr id="8" name="Image 0" descr="icon">    </p:cNvPr>
          <p:cNvPicPr>
            <a:picLocks noChangeAspect="1"/>
          </p:cNvPicPr>
          <p:nvPr/>
        </p:nvPicPr>
        <p:blipFill>
          <a:blip r:embed="rId1"/>
          <a:stretch>
            <a:fillRect/>
          </a:stretch>
        </p:blipFill>
        <p:spPr>
          <a:xfrm>
            <a:off x="5708599" y="1593799"/>
            <a:ext cx="241402" cy="241402"/>
          </a:xfrm>
          <a:prstGeom prst="rect">
            <a:avLst/>
          </a:prstGeom>
        </p:spPr>
      </p:pic>
      <p:sp>
        <p:nvSpPr>
          <p:cNvPr id="9" name="Text 6"/>
          <p:cNvSpPr txBox="1"/>
          <p:nvPr/>
        </p:nvSpPr>
        <p:spPr>
          <a:xfrm>
            <a:off x="6217920" y="1463040"/>
            <a:ext cx="2468880" cy="868680"/>
          </a:xfrm>
          <a:prstGeom prst="rect">
            <a:avLst/>
          </a:prstGeom>
          <a:noFill/>
          <a:ln/>
        </p:spPr>
        <p:txBody>
          <a:bodyPr wrap="square" lIns="0" tIns="0" rIns="0" bIns="0" rtlCol="0" anchor="t"/>
          <a:lstStyle/>
          <a:p>
            <a:pPr indent="0" marL="0">
              <a:buNone/>
            </a:pPr>
            <a:r>
              <a:rPr lang="en-US" sz="1400" dirty="0">
                <a:solidFill>
                  <a:schemeClr val="tx1"/>
                </a:solidFill>
              </a:rPr>
              <a:t>Design and implement a solution for the given problem</a:t>
            </a:r>
            <a:endParaRPr lang="en-US" sz="1400" dirty="0"/>
          </a:p>
        </p:txBody>
      </p:sp>
      <p:sp>
        <p:nvSpPr>
          <p:cNvPr id="10" name="Icon circle"/>
          <p:cNvSpPr/>
          <p:nvPr/>
        </p:nvSpPr>
        <p:spPr>
          <a:xfrm>
            <a:off x="5577840" y="2514600"/>
            <a:ext cx="502920" cy="502920"/>
          </a:xfrm>
          <a:prstGeom prst="ellipse">
            <a:avLst/>
          </a:prstGeom>
          <a:solidFill>
            <a:schemeClr val="tx2"/>
          </a:solidFill>
          <a:ln w="12700">
            <a:solidFill>
              <a:schemeClr val="tx2"/>
            </a:solidFill>
            <a:prstDash val="solid"/>
          </a:ln>
        </p:spPr>
      </p:sp>
      <p:pic>
        <p:nvPicPr>
          <p:cNvPr id="11" name="Image 1" descr="icon">    </p:cNvPr>
          <p:cNvPicPr>
            <a:picLocks noChangeAspect="1"/>
          </p:cNvPicPr>
          <p:nvPr/>
        </p:nvPicPr>
        <p:blipFill>
          <a:blip r:embed="rId2"/>
          <a:stretch>
            <a:fillRect/>
          </a:stretch>
        </p:blipFill>
        <p:spPr>
          <a:xfrm>
            <a:off x="5708599" y="2645359"/>
            <a:ext cx="241402" cy="241402"/>
          </a:xfrm>
          <a:prstGeom prst="rect">
            <a:avLst/>
          </a:prstGeom>
        </p:spPr>
      </p:pic>
      <p:sp>
        <p:nvSpPr>
          <p:cNvPr id="12" name="Text 8"/>
          <p:cNvSpPr txBox="1"/>
          <p:nvPr/>
        </p:nvSpPr>
        <p:spPr>
          <a:xfrm>
            <a:off x="6217920" y="2514600"/>
            <a:ext cx="2468880" cy="868680"/>
          </a:xfrm>
          <a:prstGeom prst="rect">
            <a:avLst/>
          </a:prstGeom>
          <a:noFill/>
          <a:ln/>
        </p:spPr>
        <p:txBody>
          <a:bodyPr wrap="square" lIns="0" tIns="0" rIns="0" bIns="0" rtlCol="0" anchor="t"/>
          <a:lstStyle/>
          <a:p>
            <a:pPr indent="0" marL="0">
              <a:buNone/>
            </a:pPr>
            <a:r>
              <a:rPr lang="en-US" sz="1400" dirty="0">
                <a:solidFill>
                  <a:schemeClr val="tx1"/>
                </a:solidFill>
              </a:rPr>
              <a:t>Use modern tools and algorithms</a:t>
            </a:r>
            <a:endParaRPr lang="en-US" sz="1400" dirty="0"/>
          </a:p>
        </p:txBody>
      </p:sp>
      <p:sp>
        <p:nvSpPr>
          <p:cNvPr id="13" name="Icon circle"/>
          <p:cNvSpPr/>
          <p:nvPr/>
        </p:nvSpPr>
        <p:spPr>
          <a:xfrm>
            <a:off x="5577840" y="3566160"/>
            <a:ext cx="502920" cy="502920"/>
          </a:xfrm>
          <a:prstGeom prst="ellipse">
            <a:avLst/>
          </a:prstGeom>
          <a:solidFill>
            <a:schemeClr val="accent4"/>
          </a:solidFill>
          <a:ln w="12700">
            <a:solidFill>
              <a:schemeClr val="accent4"/>
            </a:solidFill>
            <a:prstDash val="solid"/>
          </a:ln>
        </p:spPr>
      </p:sp>
      <p:pic>
        <p:nvPicPr>
          <p:cNvPr id="14" name="Image 2" descr="icon">    </p:cNvPr>
          <p:cNvPicPr>
            <a:picLocks noChangeAspect="1"/>
          </p:cNvPicPr>
          <p:nvPr/>
        </p:nvPicPr>
        <p:blipFill>
          <a:blip r:embed="rId3"/>
          <a:stretch>
            <a:fillRect/>
          </a:stretch>
        </p:blipFill>
        <p:spPr>
          <a:xfrm>
            <a:off x="5708599" y="3696919"/>
            <a:ext cx="241402" cy="241402"/>
          </a:xfrm>
          <a:prstGeom prst="rect">
            <a:avLst/>
          </a:prstGeom>
        </p:spPr>
      </p:pic>
      <p:sp>
        <p:nvSpPr>
          <p:cNvPr id="15" name="Text 10"/>
          <p:cNvSpPr txBox="1"/>
          <p:nvPr/>
        </p:nvSpPr>
        <p:spPr>
          <a:xfrm>
            <a:off x="6217920" y="3566160"/>
            <a:ext cx="2468880" cy="868680"/>
          </a:xfrm>
          <a:prstGeom prst="rect">
            <a:avLst/>
          </a:prstGeom>
          <a:noFill/>
          <a:ln/>
        </p:spPr>
        <p:txBody>
          <a:bodyPr wrap="square" lIns="0" tIns="0" rIns="0" bIns="0" rtlCol="0" anchor="t"/>
          <a:lstStyle/>
          <a:p>
            <a:pPr indent="0" marL="0">
              <a:buNone/>
            </a:pPr>
            <a:r>
              <a:rPr lang="en-US" sz="1400" dirty="0">
                <a:solidFill>
                  <a:schemeClr val="tx1"/>
                </a:solidFill>
              </a:rPr>
              <a:t>Optimize performance and code quality</a:t>
            </a:r>
            <a:endParaRPr lang="en-US" sz="14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Methodology</a:t>
            </a:r>
            <a:endParaRPr lang="en-US" sz="2800" dirty="0"/>
          </a:p>
        </p:txBody>
      </p:sp>
      <p:sp>
        <p:nvSpPr>
          <p:cNvPr id="3" name="Step card 1"/>
          <p:cNvSpPr/>
          <p:nvPr/>
        </p:nvSpPr>
        <p:spPr>
          <a:xfrm>
            <a:off x="457200" y="1463040"/>
            <a:ext cx="1536192" cy="246888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tep number"/>
          <p:cNvSpPr/>
          <p:nvPr/>
        </p:nvSpPr>
        <p:spPr>
          <a:xfrm>
            <a:off x="950976" y="164592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950976"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548640" y="2377440"/>
            <a:ext cx="1353312" cy="365760"/>
          </a:xfrm>
          <a:prstGeom prst="rect">
            <a:avLst/>
          </a:prstGeom>
          <a:noFill/>
          <a:ln/>
        </p:spPr>
        <p:txBody>
          <a:bodyPr wrap="square" lIns="0" tIns="0" rIns="0" bIns="0" rtlCol="0" anchor="ctr"/>
          <a:lstStyle/>
          <a:p>
            <a:pPr algn="ctr" indent="0" marL="0">
              <a:buNone/>
            </a:pPr>
            <a:r>
              <a:rPr lang="en-US" sz="1500" b="1" dirty="0">
                <a:solidFill>
                  <a:schemeClr val="tx2"/>
                </a:solidFill>
              </a:rPr>
              <a:t>Tokenize</a:t>
            </a:r>
            <a:endParaRPr lang="en-US" sz="1500" dirty="0"/>
          </a:p>
        </p:txBody>
      </p:sp>
      <p:sp>
        <p:nvSpPr>
          <p:cNvPr id="7" name="Text 5"/>
          <p:cNvSpPr txBox="1"/>
          <p:nvPr/>
        </p:nvSpPr>
        <p:spPr>
          <a:xfrm>
            <a:off x="566928" y="2788920"/>
            <a:ext cx="1316736" cy="1005840"/>
          </a:xfrm>
          <a:prstGeom prst="rect">
            <a:avLst/>
          </a:prstGeom>
          <a:noFill/>
          <a:ln/>
        </p:spPr>
        <p:txBody>
          <a:bodyPr wrap="square" lIns="0" tIns="0" rIns="0" bIns="0" rtlCol="0" anchor="t"/>
          <a:lstStyle/>
          <a:p>
            <a:pPr algn="ctr" indent="0" marL="0">
              <a:buNone/>
            </a:pPr>
            <a:r>
              <a:rPr lang="en-US" sz="1300" dirty="0">
                <a:solidFill>
                  <a:schemeClr val="tx1"/>
                </a:solidFill>
              </a:rPr>
              <a:t>Split raw text into words</a:t>
            </a:r>
            <a:endParaRPr lang="en-US" sz="1300" dirty="0"/>
          </a:p>
        </p:txBody>
      </p:sp>
      <p:sp>
        <p:nvSpPr>
          <p:cNvPr id="8" name="Step card 2"/>
          <p:cNvSpPr/>
          <p:nvPr/>
        </p:nvSpPr>
        <p:spPr>
          <a:xfrm>
            <a:off x="2121408" y="1463040"/>
            <a:ext cx="1536192" cy="246888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tep number"/>
          <p:cNvSpPr/>
          <p:nvPr/>
        </p:nvSpPr>
        <p:spPr>
          <a:xfrm>
            <a:off x="2615184" y="164592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2615184"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2212848" y="2377440"/>
            <a:ext cx="1353312" cy="365760"/>
          </a:xfrm>
          <a:prstGeom prst="rect">
            <a:avLst/>
          </a:prstGeom>
          <a:noFill/>
          <a:ln/>
        </p:spPr>
        <p:txBody>
          <a:bodyPr wrap="square" lIns="0" tIns="0" rIns="0" bIns="0" rtlCol="0" anchor="ctr"/>
          <a:lstStyle/>
          <a:p>
            <a:pPr algn="ctr" indent="0" marL="0">
              <a:buNone/>
            </a:pPr>
            <a:r>
              <a:rPr lang="en-US" sz="1500" b="1" dirty="0">
                <a:solidFill>
                  <a:schemeClr val="tx2"/>
                </a:solidFill>
              </a:rPr>
              <a:t>Normalize</a:t>
            </a:r>
            <a:endParaRPr lang="en-US" sz="1500" dirty="0"/>
          </a:p>
        </p:txBody>
      </p:sp>
      <p:sp>
        <p:nvSpPr>
          <p:cNvPr id="12" name="Text 10"/>
          <p:cNvSpPr txBox="1"/>
          <p:nvPr/>
        </p:nvSpPr>
        <p:spPr>
          <a:xfrm>
            <a:off x="2231136" y="2788920"/>
            <a:ext cx="1316736" cy="1005840"/>
          </a:xfrm>
          <a:prstGeom prst="rect">
            <a:avLst/>
          </a:prstGeom>
          <a:noFill/>
          <a:ln/>
        </p:spPr>
        <p:txBody>
          <a:bodyPr wrap="square" lIns="0" tIns="0" rIns="0" bIns="0" rtlCol="0" anchor="t"/>
          <a:lstStyle/>
          <a:p>
            <a:pPr algn="ctr" indent="0" marL="0">
              <a:buNone/>
            </a:pPr>
            <a:r>
              <a:rPr lang="en-US" sz="1300" dirty="0">
                <a:solidFill>
                  <a:schemeClr val="tx1"/>
                </a:solidFill>
              </a:rPr>
              <a:t>Lowercase, strip special characters</a:t>
            </a:r>
            <a:endParaRPr lang="en-US" sz="1300" dirty="0"/>
          </a:p>
        </p:txBody>
      </p:sp>
      <p:sp>
        <p:nvSpPr>
          <p:cNvPr id="13" name="Step card 3"/>
          <p:cNvSpPr/>
          <p:nvPr/>
        </p:nvSpPr>
        <p:spPr>
          <a:xfrm>
            <a:off x="3785616" y="1463040"/>
            <a:ext cx="1536192" cy="246888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Step number"/>
          <p:cNvSpPr/>
          <p:nvPr/>
        </p:nvSpPr>
        <p:spPr>
          <a:xfrm>
            <a:off x="4279392" y="164592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4279392"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14"/>
          <p:cNvSpPr txBox="1"/>
          <p:nvPr/>
        </p:nvSpPr>
        <p:spPr>
          <a:xfrm>
            <a:off x="3877056" y="2377440"/>
            <a:ext cx="1353312" cy="365760"/>
          </a:xfrm>
          <a:prstGeom prst="rect">
            <a:avLst/>
          </a:prstGeom>
          <a:noFill/>
          <a:ln/>
        </p:spPr>
        <p:txBody>
          <a:bodyPr wrap="square" lIns="0" tIns="0" rIns="0" bIns="0" rtlCol="0" anchor="ctr"/>
          <a:lstStyle/>
          <a:p>
            <a:pPr algn="ctr" indent="0" marL="0">
              <a:buNone/>
            </a:pPr>
            <a:r>
              <a:rPr lang="en-US" sz="1500" b="1" dirty="0">
                <a:solidFill>
                  <a:schemeClr val="tx2"/>
                </a:solidFill>
              </a:rPr>
              <a:t>Build Index</a:t>
            </a:r>
            <a:endParaRPr lang="en-US" sz="1500" dirty="0"/>
          </a:p>
        </p:txBody>
      </p:sp>
      <p:sp>
        <p:nvSpPr>
          <p:cNvPr id="17" name="Text 15"/>
          <p:cNvSpPr txBox="1"/>
          <p:nvPr/>
        </p:nvSpPr>
        <p:spPr>
          <a:xfrm>
            <a:off x="3895344" y="2788920"/>
            <a:ext cx="1316736" cy="1005840"/>
          </a:xfrm>
          <a:prstGeom prst="rect">
            <a:avLst/>
          </a:prstGeom>
          <a:noFill/>
          <a:ln/>
        </p:spPr>
        <p:txBody>
          <a:bodyPr wrap="square" lIns="0" tIns="0" rIns="0" bIns="0" rtlCol="0" anchor="t"/>
          <a:lstStyle/>
          <a:p>
            <a:pPr algn="ctr" indent="0" marL="0">
              <a:buNone/>
            </a:pPr>
            <a:r>
              <a:rPr lang="en-US" sz="1300" dirty="0">
                <a:solidFill>
                  <a:schemeClr val="tx1"/>
                </a:solidFill>
              </a:rPr>
              <a:t>Map each word to its line numbers</a:t>
            </a:r>
            <a:endParaRPr lang="en-US" sz="1300" dirty="0"/>
          </a:p>
        </p:txBody>
      </p:sp>
      <p:sp>
        <p:nvSpPr>
          <p:cNvPr id="18" name="Step card 4"/>
          <p:cNvSpPr/>
          <p:nvPr/>
        </p:nvSpPr>
        <p:spPr>
          <a:xfrm>
            <a:off x="5449824" y="1463040"/>
            <a:ext cx="1536192" cy="246888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Step number"/>
          <p:cNvSpPr/>
          <p:nvPr/>
        </p:nvSpPr>
        <p:spPr>
          <a:xfrm>
            <a:off x="5943600" y="164592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5943600"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9"/>
          <p:cNvSpPr txBox="1"/>
          <p:nvPr/>
        </p:nvSpPr>
        <p:spPr>
          <a:xfrm>
            <a:off x="5541264" y="2377440"/>
            <a:ext cx="1353312" cy="365760"/>
          </a:xfrm>
          <a:prstGeom prst="rect">
            <a:avLst/>
          </a:prstGeom>
          <a:noFill/>
          <a:ln/>
        </p:spPr>
        <p:txBody>
          <a:bodyPr wrap="square" lIns="0" tIns="0" rIns="0" bIns="0" rtlCol="0" anchor="ctr"/>
          <a:lstStyle/>
          <a:p>
            <a:pPr algn="ctr" indent="0" marL="0">
              <a:buNone/>
            </a:pPr>
            <a:r>
              <a:rPr lang="en-US" sz="1500" b="1" dirty="0">
                <a:solidFill>
                  <a:schemeClr val="tx2"/>
                </a:solidFill>
              </a:rPr>
              <a:t>Search</a:t>
            </a:r>
            <a:endParaRPr lang="en-US" sz="1500" dirty="0"/>
          </a:p>
        </p:txBody>
      </p:sp>
      <p:sp>
        <p:nvSpPr>
          <p:cNvPr id="22" name="Text 20"/>
          <p:cNvSpPr txBox="1"/>
          <p:nvPr/>
        </p:nvSpPr>
        <p:spPr>
          <a:xfrm>
            <a:off x="5559552" y="2788920"/>
            <a:ext cx="1316736" cy="1005840"/>
          </a:xfrm>
          <a:prstGeom prst="rect">
            <a:avLst/>
          </a:prstGeom>
          <a:noFill/>
          <a:ln/>
        </p:spPr>
        <p:txBody>
          <a:bodyPr wrap="square" lIns="0" tIns="0" rIns="0" bIns="0" rtlCol="0" anchor="t"/>
          <a:lstStyle/>
          <a:p>
            <a:pPr algn="ctr" indent="0" marL="0">
              <a:buNone/>
            </a:pPr>
            <a:r>
              <a:rPr lang="en-US" sz="1300" dirty="0">
                <a:solidFill>
                  <a:schemeClr val="tx1"/>
                </a:solidFill>
              </a:rPr>
              <a:t>Single and multi-keyword AND lookup</a:t>
            </a:r>
            <a:endParaRPr lang="en-US" sz="1300" dirty="0"/>
          </a:p>
        </p:txBody>
      </p:sp>
      <p:sp>
        <p:nvSpPr>
          <p:cNvPr id="23" name="Step card 5"/>
          <p:cNvSpPr/>
          <p:nvPr/>
        </p:nvSpPr>
        <p:spPr>
          <a:xfrm>
            <a:off x="7114032" y="1463040"/>
            <a:ext cx="1536192" cy="246888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Step number"/>
          <p:cNvSpPr/>
          <p:nvPr/>
        </p:nvSpPr>
        <p:spPr>
          <a:xfrm>
            <a:off x="7607808" y="164592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7607808"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Text 24"/>
          <p:cNvSpPr txBox="1"/>
          <p:nvPr/>
        </p:nvSpPr>
        <p:spPr>
          <a:xfrm>
            <a:off x="7205472" y="2377440"/>
            <a:ext cx="1353312" cy="365760"/>
          </a:xfrm>
          <a:prstGeom prst="rect">
            <a:avLst/>
          </a:prstGeom>
          <a:noFill/>
          <a:ln/>
        </p:spPr>
        <p:txBody>
          <a:bodyPr wrap="square" lIns="0" tIns="0" rIns="0" bIns="0" rtlCol="0" anchor="ctr"/>
          <a:lstStyle/>
          <a:p>
            <a:pPr algn="ctr" indent="0" marL="0">
              <a:buNone/>
            </a:pPr>
            <a:r>
              <a:rPr lang="en-US" sz="1500" b="1" dirty="0">
                <a:solidFill>
                  <a:schemeClr val="tx2"/>
                </a:solidFill>
              </a:rPr>
              <a:t>Summarize</a:t>
            </a:r>
            <a:endParaRPr lang="en-US" sz="1500" dirty="0"/>
          </a:p>
        </p:txBody>
      </p:sp>
      <p:sp>
        <p:nvSpPr>
          <p:cNvPr id="27" name="Text 25"/>
          <p:cNvSpPr txBox="1"/>
          <p:nvPr/>
        </p:nvSpPr>
        <p:spPr>
          <a:xfrm>
            <a:off x="7223760" y="2788920"/>
            <a:ext cx="1316736" cy="1005840"/>
          </a:xfrm>
          <a:prstGeom prst="rect">
            <a:avLst/>
          </a:prstGeom>
          <a:noFill/>
          <a:ln/>
        </p:spPr>
        <p:txBody>
          <a:bodyPr wrap="square" lIns="0" tIns="0" rIns="0" bIns="0" rtlCol="0" anchor="t"/>
          <a:lstStyle/>
          <a:p>
            <a:pPr algn="ctr" indent="0" marL="0">
              <a:buNone/>
            </a:pPr>
            <a:r>
              <a:rPr lang="en-US" sz="1300" dirty="0">
                <a:solidFill>
                  <a:schemeClr val="tx1"/>
                </a:solidFill>
              </a:rPr>
              <a:t>Occurrence counts per keyword</a:t>
            </a:r>
            <a:endParaRPr lang="en-US" sz="1300" dirty="0"/>
          </a:p>
        </p:txBody>
      </p:sp>
      <p:sp>
        <p:nvSpPr>
          <p:cNvPr id="28" name="Text 26"/>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400" i="1" dirty="0">
                <a:solidFill>
                  <a:schemeClr val="accent5"/>
                </a:solidFill>
              </a:rPr>
              <a:t>Built sequentially and modularly, each stage feeding the next.</a:t>
            </a:r>
            <a:endParaRPr lang="en-US" sz="14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Tools &amp; Technologies</a:t>
            </a:r>
            <a:endParaRPr lang="en-US" sz="2800" dirty="0"/>
          </a:p>
        </p:txBody>
      </p:sp>
      <p:sp>
        <p:nvSpPr>
          <p:cNvPr id="3" name="Tech card 1"/>
          <p:cNvSpPr/>
          <p:nvPr/>
        </p:nvSpPr>
        <p:spPr>
          <a:xfrm>
            <a:off x="457200" y="1005840"/>
            <a:ext cx="4023360" cy="16002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685800" y="1188720"/>
            <a:ext cx="640080" cy="64008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852221" y="1355141"/>
            <a:ext cx="307238" cy="307238"/>
          </a:xfrm>
          <a:prstGeom prst="rect">
            <a:avLst/>
          </a:prstGeom>
        </p:spPr>
      </p:pic>
      <p:sp>
        <p:nvSpPr>
          <p:cNvPr id="6" name="Text 3"/>
          <p:cNvSpPr txBox="1"/>
          <p:nvPr/>
        </p:nvSpPr>
        <p:spPr>
          <a:xfrm>
            <a:off x="1508760" y="1188720"/>
            <a:ext cx="2834640" cy="365760"/>
          </a:xfrm>
          <a:prstGeom prst="rect">
            <a:avLst/>
          </a:prstGeom>
          <a:noFill/>
          <a:ln/>
        </p:spPr>
        <p:txBody>
          <a:bodyPr wrap="square" lIns="0" tIns="0" rIns="0" bIns="0" rtlCol="0" anchor="ctr"/>
          <a:lstStyle/>
          <a:p>
            <a:pPr indent="0" marL="0">
              <a:buNone/>
            </a:pPr>
            <a:r>
              <a:rPr lang="en-US" sz="1600" b="1" dirty="0">
                <a:solidFill>
                  <a:schemeClr val="accent1"/>
                </a:solidFill>
              </a:rPr>
              <a:t>Language</a:t>
            </a:r>
            <a:endParaRPr lang="en-US" sz="1600" dirty="0"/>
          </a:p>
        </p:txBody>
      </p:sp>
      <p:sp>
        <p:nvSpPr>
          <p:cNvPr id="7" name="Text 4"/>
          <p:cNvSpPr txBox="1"/>
          <p:nvPr/>
        </p:nvSpPr>
        <p:spPr>
          <a:xfrm>
            <a:off x="1508760" y="1600200"/>
            <a:ext cx="2834640" cy="914400"/>
          </a:xfrm>
          <a:prstGeom prst="rect">
            <a:avLst/>
          </a:prstGeom>
          <a:noFill/>
          <a:ln/>
        </p:spPr>
        <p:txBody>
          <a:bodyPr wrap="square" lIns="0" tIns="0" rIns="0" bIns="0" rtlCol="0" anchor="t"/>
          <a:lstStyle/>
          <a:p>
            <a:pPr indent="0" marL="0">
              <a:buNone/>
            </a:pPr>
            <a:r>
              <a:rPr lang="en-US" sz="1400" dirty="0">
                <a:solidFill>
                  <a:schemeClr val="tx1"/>
                </a:solidFill>
              </a:rPr>
              <a:t>JavaScript (Node.js)</a:t>
            </a:r>
            <a:endParaRPr lang="en-US" sz="1400" dirty="0"/>
          </a:p>
        </p:txBody>
      </p:sp>
      <p:sp>
        <p:nvSpPr>
          <p:cNvPr id="8" name="Tech card 2"/>
          <p:cNvSpPr/>
          <p:nvPr/>
        </p:nvSpPr>
        <p:spPr>
          <a:xfrm>
            <a:off x="4617720" y="1005840"/>
            <a:ext cx="4023360" cy="16002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4846320" y="1188720"/>
            <a:ext cx="640080" cy="640080"/>
          </a:xfrm>
          <a:prstGeom prst="ellipse">
            <a:avLst/>
          </a:prstGeom>
          <a:solidFill>
            <a:schemeClr val="tx2"/>
          </a:solidFill>
          <a:ln w="12700">
            <a:solidFill>
              <a:schemeClr val="tx2"/>
            </a:solidFill>
            <a:prstDash val="solid"/>
          </a:ln>
        </p:spPr>
      </p:sp>
      <p:pic>
        <p:nvPicPr>
          <p:cNvPr id="10" name="Image 1" descr="icon">    </p:cNvPr>
          <p:cNvPicPr>
            <a:picLocks noChangeAspect="1"/>
          </p:cNvPicPr>
          <p:nvPr/>
        </p:nvPicPr>
        <p:blipFill>
          <a:blip r:embed="rId2"/>
          <a:stretch>
            <a:fillRect/>
          </a:stretch>
        </p:blipFill>
        <p:spPr>
          <a:xfrm>
            <a:off x="5012741" y="1355141"/>
            <a:ext cx="307238" cy="307238"/>
          </a:xfrm>
          <a:prstGeom prst="rect">
            <a:avLst/>
          </a:prstGeom>
        </p:spPr>
      </p:pic>
      <p:sp>
        <p:nvSpPr>
          <p:cNvPr id="11" name="Text 7"/>
          <p:cNvSpPr txBox="1"/>
          <p:nvPr/>
        </p:nvSpPr>
        <p:spPr>
          <a:xfrm>
            <a:off x="5669280" y="1188720"/>
            <a:ext cx="2834640" cy="365760"/>
          </a:xfrm>
          <a:prstGeom prst="rect">
            <a:avLst/>
          </a:prstGeom>
          <a:noFill/>
          <a:ln/>
        </p:spPr>
        <p:txBody>
          <a:bodyPr wrap="square" lIns="0" tIns="0" rIns="0" bIns="0" rtlCol="0" anchor="ctr"/>
          <a:lstStyle/>
          <a:p>
            <a:pPr indent="0" marL="0">
              <a:buNone/>
            </a:pPr>
            <a:r>
              <a:rPr lang="en-US" sz="1600" b="1" dirty="0">
                <a:solidFill>
                  <a:schemeClr val="accent1"/>
                </a:solidFill>
              </a:rPr>
              <a:t>Core Features</a:t>
            </a:r>
            <a:endParaRPr lang="en-US" sz="1600" dirty="0"/>
          </a:p>
        </p:txBody>
      </p:sp>
      <p:sp>
        <p:nvSpPr>
          <p:cNvPr id="12" name="Text 8"/>
          <p:cNvSpPr txBox="1"/>
          <p:nvPr/>
        </p:nvSpPr>
        <p:spPr>
          <a:xfrm>
            <a:off x="5669280" y="1600200"/>
            <a:ext cx="2834640" cy="914400"/>
          </a:xfrm>
          <a:prstGeom prst="rect">
            <a:avLst/>
          </a:prstGeom>
          <a:noFill/>
          <a:ln/>
        </p:spPr>
        <p:txBody>
          <a:bodyPr wrap="square" lIns="0" tIns="0" rIns="0" bIns="0" rtlCol="0" anchor="t"/>
          <a:lstStyle/>
          <a:p>
            <a:pPr indent="0" marL="0">
              <a:buNone/>
            </a:pPr>
            <a:r>
              <a:rPr lang="en-US" sz="1400" dirty="0">
                <a:solidFill>
                  <a:schemeClr val="tx1"/>
                </a:solidFill>
              </a:rPr>
              <a:t>String manipulation, Array methods, Object literals</a:t>
            </a:r>
            <a:endParaRPr lang="en-US" sz="1400" dirty="0"/>
          </a:p>
        </p:txBody>
      </p:sp>
      <p:sp>
        <p:nvSpPr>
          <p:cNvPr id="13" name="Tech card 3"/>
          <p:cNvSpPr/>
          <p:nvPr/>
        </p:nvSpPr>
        <p:spPr>
          <a:xfrm>
            <a:off x="457200" y="2788920"/>
            <a:ext cx="4023360" cy="16002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685800" y="2971800"/>
            <a:ext cx="640080" cy="640080"/>
          </a:xfrm>
          <a:prstGeom prst="ellipse">
            <a:avLst/>
          </a:prstGeom>
          <a:solidFill>
            <a:schemeClr val="accent1"/>
          </a:solidFill>
          <a:ln w="12700">
            <a:solidFill>
              <a:schemeClr val="accent1"/>
            </a:solidFill>
            <a:prstDash val="solid"/>
          </a:ln>
        </p:spPr>
      </p:sp>
      <p:pic>
        <p:nvPicPr>
          <p:cNvPr id="15" name="Image 2" descr="icon">    </p:cNvPr>
          <p:cNvPicPr>
            <a:picLocks noChangeAspect="1"/>
          </p:cNvPicPr>
          <p:nvPr/>
        </p:nvPicPr>
        <p:blipFill>
          <a:blip r:embed="rId3"/>
          <a:stretch>
            <a:fillRect/>
          </a:stretch>
        </p:blipFill>
        <p:spPr>
          <a:xfrm>
            <a:off x="852221" y="3138221"/>
            <a:ext cx="307238" cy="307238"/>
          </a:xfrm>
          <a:prstGeom prst="rect">
            <a:avLst/>
          </a:prstGeom>
        </p:spPr>
      </p:pic>
      <p:sp>
        <p:nvSpPr>
          <p:cNvPr id="16" name="Text 11"/>
          <p:cNvSpPr txBox="1"/>
          <p:nvPr/>
        </p:nvSpPr>
        <p:spPr>
          <a:xfrm>
            <a:off x="1508760" y="2971800"/>
            <a:ext cx="2834640" cy="365760"/>
          </a:xfrm>
          <a:prstGeom prst="rect">
            <a:avLst/>
          </a:prstGeom>
          <a:noFill/>
          <a:ln/>
        </p:spPr>
        <p:txBody>
          <a:bodyPr wrap="square" lIns="0" tIns="0" rIns="0" bIns="0" rtlCol="0" anchor="ctr"/>
          <a:lstStyle/>
          <a:p>
            <a:pPr indent="0" marL="0">
              <a:buNone/>
            </a:pPr>
            <a:r>
              <a:rPr lang="en-US" sz="1600" b="1" dirty="0">
                <a:solidFill>
                  <a:schemeClr val="accent1"/>
                </a:solidFill>
              </a:rPr>
              <a:t>Data Structures</a:t>
            </a:r>
            <a:endParaRPr lang="en-US" sz="1600" dirty="0"/>
          </a:p>
        </p:txBody>
      </p:sp>
      <p:sp>
        <p:nvSpPr>
          <p:cNvPr id="17" name="Text 12"/>
          <p:cNvSpPr txBox="1"/>
          <p:nvPr/>
        </p:nvSpPr>
        <p:spPr>
          <a:xfrm>
            <a:off x="1508760" y="3383280"/>
            <a:ext cx="2834640" cy="914400"/>
          </a:xfrm>
          <a:prstGeom prst="rect">
            <a:avLst/>
          </a:prstGeom>
          <a:noFill/>
          <a:ln/>
        </p:spPr>
        <p:txBody>
          <a:bodyPr wrap="square" lIns="0" tIns="0" rIns="0" bIns="0" rtlCol="0" anchor="t"/>
          <a:lstStyle/>
          <a:p>
            <a:pPr indent="0" marL="0">
              <a:buNone/>
            </a:pPr>
            <a:r>
              <a:rPr lang="en-US" sz="1400" dirty="0">
                <a:solidFill>
                  <a:schemeClr val="tx1"/>
                </a:solidFill>
              </a:rPr>
              <a:t>Hash maps (objects) and arrays</a:t>
            </a:r>
            <a:endParaRPr lang="en-US" sz="1400" dirty="0"/>
          </a:p>
        </p:txBody>
      </p:sp>
      <p:sp>
        <p:nvSpPr>
          <p:cNvPr id="18" name="Tech card 4"/>
          <p:cNvSpPr/>
          <p:nvPr/>
        </p:nvSpPr>
        <p:spPr>
          <a:xfrm>
            <a:off x="4617720" y="2788920"/>
            <a:ext cx="4023360" cy="160020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Icon circle"/>
          <p:cNvSpPr/>
          <p:nvPr/>
        </p:nvSpPr>
        <p:spPr>
          <a:xfrm>
            <a:off x="4846320" y="2971800"/>
            <a:ext cx="640080" cy="640080"/>
          </a:xfrm>
          <a:prstGeom prst="ellipse">
            <a:avLst/>
          </a:prstGeom>
          <a:solidFill>
            <a:schemeClr val="tx2"/>
          </a:solidFill>
          <a:ln w="12700">
            <a:solidFill>
              <a:schemeClr val="tx2"/>
            </a:solidFill>
            <a:prstDash val="solid"/>
          </a:ln>
        </p:spPr>
      </p:sp>
      <p:pic>
        <p:nvPicPr>
          <p:cNvPr id="20" name="Image 3" descr="icon">    </p:cNvPr>
          <p:cNvPicPr>
            <a:picLocks noChangeAspect="1"/>
          </p:cNvPicPr>
          <p:nvPr/>
        </p:nvPicPr>
        <p:blipFill>
          <a:blip r:embed="rId4"/>
          <a:stretch>
            <a:fillRect/>
          </a:stretch>
        </p:blipFill>
        <p:spPr>
          <a:xfrm>
            <a:off x="5012741" y="3138221"/>
            <a:ext cx="307238" cy="307238"/>
          </a:xfrm>
          <a:prstGeom prst="rect">
            <a:avLst/>
          </a:prstGeom>
        </p:spPr>
      </p:pic>
      <p:sp>
        <p:nvSpPr>
          <p:cNvPr id="21" name="Text 15"/>
          <p:cNvSpPr txBox="1"/>
          <p:nvPr/>
        </p:nvSpPr>
        <p:spPr>
          <a:xfrm>
            <a:off x="5669280" y="2971800"/>
            <a:ext cx="2834640" cy="365760"/>
          </a:xfrm>
          <a:prstGeom prst="rect">
            <a:avLst/>
          </a:prstGeom>
          <a:noFill/>
          <a:ln/>
        </p:spPr>
        <p:txBody>
          <a:bodyPr wrap="square" lIns="0" tIns="0" rIns="0" bIns="0" rtlCol="0" anchor="ctr"/>
          <a:lstStyle/>
          <a:p>
            <a:pPr indent="0" marL="0">
              <a:buNone/>
            </a:pPr>
            <a:r>
              <a:rPr lang="en-US" sz="1600" b="1" dirty="0">
                <a:solidFill>
                  <a:schemeClr val="accent1"/>
                </a:solidFill>
              </a:rPr>
              <a:t>Concepts</a:t>
            </a:r>
            <a:endParaRPr lang="en-US" sz="1600" dirty="0"/>
          </a:p>
        </p:txBody>
      </p:sp>
      <p:sp>
        <p:nvSpPr>
          <p:cNvPr id="22" name="Text 16"/>
          <p:cNvSpPr txBox="1"/>
          <p:nvPr/>
        </p:nvSpPr>
        <p:spPr>
          <a:xfrm>
            <a:off x="5669280" y="3383280"/>
            <a:ext cx="2834640" cy="914400"/>
          </a:xfrm>
          <a:prstGeom prst="rect">
            <a:avLst/>
          </a:prstGeom>
          <a:noFill/>
          <a:ln/>
        </p:spPr>
        <p:txBody>
          <a:bodyPr wrap="square" lIns="0" tIns="0" rIns="0" bIns="0" rtlCol="0" anchor="t"/>
          <a:lstStyle/>
          <a:p>
            <a:pPr indent="0" marL="0">
              <a:buNone/>
            </a:pPr>
            <a:r>
              <a:rPr lang="en-US" sz="1400" dirty="0">
                <a:solidFill>
                  <a:schemeClr val="tx1"/>
                </a:solidFill>
              </a:rPr>
              <a:t>Tokenization, Normalization, Inverted Indexing, Information Retrieval</a:t>
            </a:r>
            <a:endParaRPr lang="en-US" sz="14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Implementation: Five Problems Solved</a:t>
            </a:r>
            <a:endParaRPr lang="en-US" sz="2800" dirty="0"/>
          </a:p>
        </p:txBody>
      </p:sp>
      <p:sp>
        <p:nvSpPr>
          <p:cNvPr id="3" name="Problem row 1"/>
          <p:cNvSpPr/>
          <p:nvPr/>
        </p:nvSpPr>
        <p:spPr>
          <a:xfrm>
            <a:off x="457200" y="914400"/>
            <a:ext cx="8229600" cy="65836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Problem number"/>
          <p:cNvSpPr/>
          <p:nvPr/>
        </p:nvSpPr>
        <p:spPr>
          <a:xfrm>
            <a:off x="594360" y="1014984"/>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594360" y="10149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34440" y="914400"/>
            <a:ext cx="3017520" cy="658368"/>
          </a:xfrm>
          <a:prstGeom prst="rect">
            <a:avLst/>
          </a:prstGeom>
          <a:noFill/>
          <a:ln/>
        </p:spPr>
        <p:txBody>
          <a:bodyPr wrap="square" lIns="0" tIns="0" rIns="0" bIns="0" rtlCol="0" anchor="ctr"/>
          <a:lstStyle/>
          <a:p>
            <a:pPr indent="0" marL="0">
              <a:buNone/>
            </a:pPr>
            <a:r>
              <a:rPr lang="en-US" sz="1500" b="1" dirty="0">
                <a:solidFill>
                  <a:schemeClr val="tx2"/>
                </a:solidFill>
              </a:rPr>
              <a:t>Tokenize &amp; Normalize Text</a:t>
            </a:r>
            <a:endParaRPr lang="en-US" sz="1500" dirty="0"/>
          </a:p>
        </p:txBody>
      </p:sp>
      <p:sp>
        <p:nvSpPr>
          <p:cNvPr id="7" name="Text 5"/>
          <p:cNvSpPr txBox="1"/>
          <p:nvPr/>
        </p:nvSpPr>
        <p:spPr>
          <a:xfrm>
            <a:off x="4297680" y="914400"/>
            <a:ext cx="4297680" cy="658368"/>
          </a:xfrm>
          <a:prstGeom prst="rect">
            <a:avLst/>
          </a:prstGeom>
          <a:noFill/>
          <a:ln/>
        </p:spPr>
        <p:txBody>
          <a:bodyPr wrap="square" lIns="0" tIns="0" rIns="0" bIns="0" rtlCol="0" anchor="ctr"/>
          <a:lstStyle/>
          <a:p>
            <a:pPr indent="0" marL="0">
              <a:buNone/>
            </a:pPr>
            <a:r>
              <a:rPr lang="en-US" sz="1300" dirty="0">
                <a:solidFill>
                  <a:schemeClr val="tx1"/>
                </a:solidFill>
              </a:rPr>
              <a:t>Lowercase, strip punctuation, split into clean word tokens.</a:t>
            </a:r>
            <a:endParaRPr lang="en-US" sz="1300" dirty="0"/>
          </a:p>
        </p:txBody>
      </p:sp>
      <p:sp>
        <p:nvSpPr>
          <p:cNvPr id="8" name="Problem row 2"/>
          <p:cNvSpPr/>
          <p:nvPr/>
        </p:nvSpPr>
        <p:spPr>
          <a:xfrm>
            <a:off x="457200" y="1682496"/>
            <a:ext cx="8229600" cy="65836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Problem number"/>
          <p:cNvSpPr/>
          <p:nvPr/>
        </p:nvSpPr>
        <p:spPr>
          <a:xfrm>
            <a:off x="594360" y="17830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59436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234440" y="1682496"/>
            <a:ext cx="3017520" cy="658368"/>
          </a:xfrm>
          <a:prstGeom prst="rect">
            <a:avLst/>
          </a:prstGeom>
          <a:noFill/>
          <a:ln/>
        </p:spPr>
        <p:txBody>
          <a:bodyPr wrap="square" lIns="0" tIns="0" rIns="0" bIns="0" rtlCol="0" anchor="ctr"/>
          <a:lstStyle/>
          <a:p>
            <a:pPr indent="0" marL="0">
              <a:buNone/>
            </a:pPr>
            <a:r>
              <a:rPr lang="en-US" sz="1500" b="1" dirty="0">
                <a:solidFill>
                  <a:schemeClr val="tx2"/>
                </a:solidFill>
              </a:rPr>
              <a:t>Build Word-to-Line Index</a:t>
            </a:r>
            <a:endParaRPr lang="en-US" sz="1500" dirty="0"/>
          </a:p>
        </p:txBody>
      </p:sp>
      <p:sp>
        <p:nvSpPr>
          <p:cNvPr id="12" name="Text 10"/>
          <p:cNvSpPr txBox="1"/>
          <p:nvPr/>
        </p:nvSpPr>
        <p:spPr>
          <a:xfrm>
            <a:off x="4297680" y="1682496"/>
            <a:ext cx="4297680" cy="658368"/>
          </a:xfrm>
          <a:prstGeom prst="rect">
            <a:avLst/>
          </a:prstGeom>
          <a:noFill/>
          <a:ln/>
        </p:spPr>
        <p:txBody>
          <a:bodyPr wrap="square" lIns="0" tIns="0" rIns="0" bIns="0" rtlCol="0" anchor="ctr"/>
          <a:lstStyle/>
          <a:p>
            <a:pPr indent="0" marL="0">
              <a:buNone/>
            </a:pPr>
            <a:r>
              <a:rPr lang="en-US" sz="1300" dirty="0">
                <a:solidFill>
                  <a:schemeClr val="tx1"/>
                </a:solidFill>
              </a:rPr>
              <a:t>Map every unique word to the line numbers where it occurs.</a:t>
            </a:r>
            <a:endParaRPr lang="en-US" sz="1300" dirty="0"/>
          </a:p>
        </p:txBody>
      </p:sp>
      <p:sp>
        <p:nvSpPr>
          <p:cNvPr id="13" name="Problem row 3"/>
          <p:cNvSpPr/>
          <p:nvPr/>
        </p:nvSpPr>
        <p:spPr>
          <a:xfrm>
            <a:off x="457200" y="2450592"/>
            <a:ext cx="8229600" cy="65836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Problem number"/>
          <p:cNvSpPr/>
          <p:nvPr/>
        </p:nvSpPr>
        <p:spPr>
          <a:xfrm>
            <a:off x="594360" y="2551176"/>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594360" y="25511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234440" y="2450592"/>
            <a:ext cx="3017520" cy="658368"/>
          </a:xfrm>
          <a:prstGeom prst="rect">
            <a:avLst/>
          </a:prstGeom>
          <a:noFill/>
          <a:ln/>
        </p:spPr>
        <p:txBody>
          <a:bodyPr wrap="square" lIns="0" tIns="0" rIns="0" bIns="0" rtlCol="0" anchor="ctr"/>
          <a:lstStyle/>
          <a:p>
            <a:pPr indent="0" marL="0">
              <a:buNone/>
            </a:pPr>
            <a:r>
              <a:rPr lang="en-US" sz="1500" b="1" dirty="0">
                <a:solidFill>
                  <a:schemeClr val="tx2"/>
                </a:solidFill>
              </a:rPr>
              <a:t>Single Keyword Search</a:t>
            </a:r>
            <a:endParaRPr lang="en-US" sz="1500" dirty="0"/>
          </a:p>
        </p:txBody>
      </p:sp>
      <p:sp>
        <p:nvSpPr>
          <p:cNvPr id="17" name="Text 15"/>
          <p:cNvSpPr txBox="1"/>
          <p:nvPr/>
        </p:nvSpPr>
        <p:spPr>
          <a:xfrm>
            <a:off x="4297680" y="2450592"/>
            <a:ext cx="4297680" cy="658368"/>
          </a:xfrm>
          <a:prstGeom prst="rect">
            <a:avLst/>
          </a:prstGeom>
          <a:noFill/>
          <a:ln/>
        </p:spPr>
        <p:txBody>
          <a:bodyPr wrap="square" lIns="0" tIns="0" rIns="0" bIns="0" rtlCol="0" anchor="ctr"/>
          <a:lstStyle/>
          <a:p>
            <a:pPr indent="0" marL="0">
              <a:buNone/>
            </a:pPr>
            <a:r>
              <a:rPr lang="en-US" sz="1300" dirty="0">
                <a:solidFill>
                  <a:schemeClr val="tx1"/>
                </a:solidFill>
              </a:rPr>
              <a:t>Look up a keyword directly in the index for matching lines.</a:t>
            </a:r>
            <a:endParaRPr lang="en-US" sz="1300" dirty="0"/>
          </a:p>
        </p:txBody>
      </p:sp>
      <p:sp>
        <p:nvSpPr>
          <p:cNvPr id="18" name="Problem row 4"/>
          <p:cNvSpPr/>
          <p:nvPr/>
        </p:nvSpPr>
        <p:spPr>
          <a:xfrm>
            <a:off x="457200" y="3218688"/>
            <a:ext cx="8229600" cy="65836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Problem number"/>
          <p:cNvSpPr/>
          <p:nvPr/>
        </p:nvSpPr>
        <p:spPr>
          <a:xfrm>
            <a:off x="594360" y="3319272"/>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594360" y="33192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234440" y="3218688"/>
            <a:ext cx="3017520" cy="658368"/>
          </a:xfrm>
          <a:prstGeom prst="rect">
            <a:avLst/>
          </a:prstGeom>
          <a:noFill/>
          <a:ln/>
        </p:spPr>
        <p:txBody>
          <a:bodyPr wrap="square" lIns="0" tIns="0" rIns="0" bIns="0" rtlCol="0" anchor="ctr"/>
          <a:lstStyle/>
          <a:p>
            <a:pPr indent="0" marL="0">
              <a:buNone/>
            </a:pPr>
            <a:r>
              <a:rPr lang="en-US" sz="1500" b="1" dirty="0">
                <a:solidFill>
                  <a:schemeClr val="tx2"/>
                </a:solidFill>
              </a:rPr>
              <a:t>Multi-Keyword AND Search</a:t>
            </a:r>
            <a:endParaRPr lang="en-US" sz="1500" dirty="0"/>
          </a:p>
        </p:txBody>
      </p:sp>
      <p:sp>
        <p:nvSpPr>
          <p:cNvPr id="22" name="Text 20"/>
          <p:cNvSpPr txBox="1"/>
          <p:nvPr/>
        </p:nvSpPr>
        <p:spPr>
          <a:xfrm>
            <a:off x="4297680" y="3218688"/>
            <a:ext cx="4297680" cy="658368"/>
          </a:xfrm>
          <a:prstGeom prst="rect">
            <a:avLst/>
          </a:prstGeom>
          <a:noFill/>
          <a:ln/>
        </p:spPr>
        <p:txBody>
          <a:bodyPr wrap="square" lIns="0" tIns="0" rIns="0" bIns="0" rtlCol="0" anchor="ctr"/>
          <a:lstStyle/>
          <a:p>
            <a:pPr indent="0" marL="0">
              <a:buNone/>
            </a:pPr>
            <a:r>
              <a:rPr lang="en-US" sz="1300" dirty="0">
                <a:solidFill>
                  <a:schemeClr val="tx1"/>
                </a:solidFill>
              </a:rPr>
              <a:t>Intersect line lists so every keyword appears on the line.</a:t>
            </a:r>
            <a:endParaRPr lang="en-US" sz="1300" dirty="0"/>
          </a:p>
        </p:txBody>
      </p:sp>
      <p:sp>
        <p:nvSpPr>
          <p:cNvPr id="23" name="Problem row 5"/>
          <p:cNvSpPr/>
          <p:nvPr/>
        </p:nvSpPr>
        <p:spPr>
          <a:xfrm>
            <a:off x="457200" y="3986784"/>
            <a:ext cx="8229600" cy="65836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Problem number"/>
          <p:cNvSpPr/>
          <p:nvPr/>
        </p:nvSpPr>
        <p:spPr>
          <a:xfrm>
            <a:off x="594360" y="4087368"/>
            <a:ext cx="457200" cy="457200"/>
          </a:xfrm>
          <a:prstGeom prst="ellipse">
            <a:avLst/>
          </a:prstGeom>
          <a:solidFill>
            <a:schemeClr val="accent1"/>
          </a:solidFill>
          <a:ln w="12700">
            <a:solidFill>
              <a:schemeClr val="accent1"/>
            </a:solidFill>
            <a:prstDash val="solid"/>
          </a:ln>
        </p:spPr>
      </p:sp>
      <p:sp>
        <p:nvSpPr>
          <p:cNvPr id="25" name="Text 23"/>
          <p:cNvSpPr txBox="1"/>
          <p:nvPr/>
        </p:nvSpPr>
        <p:spPr>
          <a:xfrm>
            <a:off x="594360" y="40873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1234440" y="3986784"/>
            <a:ext cx="3017520" cy="658368"/>
          </a:xfrm>
          <a:prstGeom prst="rect">
            <a:avLst/>
          </a:prstGeom>
          <a:noFill/>
          <a:ln/>
        </p:spPr>
        <p:txBody>
          <a:bodyPr wrap="square" lIns="0" tIns="0" rIns="0" bIns="0" rtlCol="0" anchor="ctr"/>
          <a:lstStyle/>
          <a:p>
            <a:pPr indent="0" marL="0">
              <a:buNone/>
            </a:pPr>
            <a:r>
              <a:rPr lang="en-US" sz="1500" b="1" dirty="0">
                <a:solidFill>
                  <a:schemeClr val="tx2"/>
                </a:solidFill>
              </a:rPr>
              <a:t>Occurrence Count Summary</a:t>
            </a:r>
            <a:endParaRPr lang="en-US" sz="1500" dirty="0"/>
          </a:p>
        </p:txBody>
      </p:sp>
      <p:sp>
        <p:nvSpPr>
          <p:cNvPr id="27" name="Text 25"/>
          <p:cNvSpPr txBox="1"/>
          <p:nvPr/>
        </p:nvSpPr>
        <p:spPr>
          <a:xfrm>
            <a:off x="4297680" y="3986784"/>
            <a:ext cx="4297680" cy="658368"/>
          </a:xfrm>
          <a:prstGeom prst="rect">
            <a:avLst/>
          </a:prstGeom>
          <a:noFill/>
          <a:ln/>
        </p:spPr>
        <p:txBody>
          <a:bodyPr wrap="square" lIns="0" tIns="0" rIns="0" bIns="0" rtlCol="0" anchor="ctr"/>
          <a:lstStyle/>
          <a:p>
            <a:pPr indent="0" marL="0">
              <a:buNone/>
            </a:pPr>
            <a:r>
              <a:rPr lang="en-US" sz="1300" dirty="0">
                <a:solidFill>
                  <a:schemeClr val="tx1"/>
                </a:solidFill>
              </a:rPr>
              <a:t>Report how often each queried keyword appears in results.</a:t>
            </a:r>
            <a:endParaRPr lang="en-US" sz="13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Code: Tokenize &amp; Normalize</a:t>
            </a:r>
            <a:endParaRPr lang="en-US" sz="2800" dirty="0"/>
          </a:p>
        </p:txBody>
      </p:sp>
      <p:sp>
        <p:nvSpPr>
          <p:cNvPr id="3" name="Code panel"/>
          <p:cNvSpPr/>
          <p:nvPr/>
        </p:nvSpPr>
        <p:spPr>
          <a:xfrm>
            <a:off x="457200" y="914400"/>
            <a:ext cx="5212080" cy="3611880"/>
          </a:xfrm>
          <a:prstGeom prst="rect">
            <a:avLst/>
          </a:prstGeom>
          <a:solidFill>
            <a:schemeClr val="tx2"/>
          </a:solidFill>
          <a:ln w="12700">
            <a:solidFill>
              <a:schemeClr val="tx2"/>
            </a:solidFill>
            <a:prstDash val="solid"/>
          </a:ln>
        </p:spPr>
      </p:sp>
      <p:sp>
        <p:nvSpPr>
          <p:cNvPr id="4" name="Text 2"/>
          <p:cNvSpPr txBox="1"/>
          <p:nvPr/>
        </p:nvSpPr>
        <p:spPr>
          <a:xfrm>
            <a:off x="594360" y="1005840"/>
            <a:ext cx="4937760" cy="342900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const lines = input.split('\n');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const results =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for (const line of lines)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let result;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if (line.trim() === '')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result = { "words": []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else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const words = line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.toLowerCase()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.replace(/[^a-z0-9\s]/g,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.trim()</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.split(/\s+/)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.filter(w =&gt; w !==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result = { "words": words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results.push(result);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console.log(JSON.stringify(results));</a:t>
            </a:r>
            <a:endParaRPr lang="en-US" sz="1100" dirty="0"/>
          </a:p>
        </p:txBody>
      </p:sp>
      <p:sp>
        <p:nvSpPr>
          <p:cNvPr id="5" name="Text 3"/>
          <p:cNvSpPr txBox="1"/>
          <p:nvPr/>
        </p:nvSpPr>
        <p:spPr>
          <a:xfrm>
            <a:off x="5943600" y="914400"/>
            <a:ext cx="274320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it does</a:t>
            </a:r>
            <a:endParaRPr lang="en-US" sz="1800" dirty="0"/>
          </a:p>
        </p:txBody>
      </p:sp>
      <p:sp>
        <p:nvSpPr>
          <p:cNvPr id="6" name="Text 4"/>
          <p:cNvSpPr txBox="1"/>
          <p:nvPr/>
        </p:nvSpPr>
        <p:spPr>
          <a:xfrm>
            <a:off x="5943600" y="1371600"/>
            <a:ext cx="274320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Converts each line to lowercase</a:t>
            </a:r>
            <a:endParaRPr lang="en-US" sz="1400" dirty="0"/>
          </a:p>
          <a:p>
            <a:pPr marL="342900" indent="-342900">
              <a:spcAft>
                <a:spcPts val="800"/>
              </a:spcAft>
              <a:buSzPct val="100000"/>
              <a:buChar char="•"/>
            </a:pPr>
            <a:r>
              <a:rPr lang="en-US" sz="1400" dirty="0">
                <a:solidFill>
                  <a:schemeClr val="tx1"/>
                </a:solidFill>
              </a:rPr>
              <a:t>Removes non-alphanumeric characters with a regex</a:t>
            </a:r>
            <a:endParaRPr lang="en-US" sz="1400" dirty="0"/>
          </a:p>
          <a:p>
            <a:pPr marL="342900" indent="-342900">
              <a:spcAft>
                <a:spcPts val="800"/>
              </a:spcAft>
              <a:buSzPct val="100000"/>
              <a:buChar char="•"/>
            </a:pPr>
            <a:r>
              <a:rPr lang="en-US" sz="1400" dirty="0">
                <a:solidFill>
                  <a:schemeClr val="tx1"/>
                </a:solidFill>
              </a:rPr>
              <a:t>Splits on whitespace and drops empty tokens</a:t>
            </a:r>
            <a:endParaRPr lang="en-US" sz="1400" dirty="0"/>
          </a:p>
          <a:p>
            <a:pPr marL="342900" indent="-342900">
              <a:spcAft>
                <a:spcPts val="800"/>
              </a:spcAft>
              <a:buSzPct val="100000"/>
              <a:buChar char="•"/>
            </a:pPr>
            <a:r>
              <a:rPr lang="en-US" sz="1400" dirty="0">
                <a:solidFill>
                  <a:schemeClr val="tx1"/>
                </a:solidFill>
              </a:rPr>
              <a:t>Handles empty lines safely</a:t>
            </a:r>
            <a:endParaRPr lang="en-US" sz="14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Code: Index &amp; AND Search</a:t>
            </a:r>
            <a:endParaRPr lang="en-US" sz="2800" dirty="0"/>
          </a:p>
        </p:txBody>
      </p:sp>
      <p:sp>
        <p:nvSpPr>
          <p:cNvPr id="3" name="Text 1"/>
          <p:cNvSpPr txBox="1"/>
          <p:nvPr/>
        </p:nvSpPr>
        <p:spPr>
          <a:xfrm>
            <a:off x="457200" y="868680"/>
            <a:ext cx="4023360" cy="274320"/>
          </a:xfrm>
          <a:prstGeom prst="rect">
            <a:avLst/>
          </a:prstGeom>
          <a:noFill/>
          <a:ln/>
        </p:spPr>
        <p:txBody>
          <a:bodyPr wrap="square" lIns="0" tIns="0" rIns="0" bIns="0" rtlCol="0" anchor="ctr"/>
          <a:lstStyle/>
          <a:p>
            <a:pPr indent="0" marL="0">
              <a:buNone/>
            </a:pPr>
            <a:r>
              <a:rPr lang="en-US" sz="1400" b="1" dirty="0">
                <a:solidFill>
                  <a:schemeClr val="accent1"/>
                </a:solidFill>
              </a:rPr>
              <a:t>Inverted index</a:t>
            </a:r>
            <a:endParaRPr lang="en-US" sz="1400" dirty="0"/>
          </a:p>
        </p:txBody>
      </p:sp>
      <p:sp>
        <p:nvSpPr>
          <p:cNvPr id="4" name="Index code panel"/>
          <p:cNvSpPr/>
          <p:nvPr/>
        </p:nvSpPr>
        <p:spPr>
          <a:xfrm>
            <a:off x="457200" y="1188720"/>
            <a:ext cx="4023360" cy="2331720"/>
          </a:xfrm>
          <a:prstGeom prst="rect">
            <a:avLst/>
          </a:prstGeom>
          <a:solidFill>
            <a:schemeClr val="tx2"/>
          </a:solidFill>
          <a:ln w="12700">
            <a:solidFill>
              <a:schemeClr val="tx2"/>
            </a:solidFill>
            <a:prstDash val="solid"/>
          </a:ln>
        </p:spPr>
      </p:sp>
      <p:sp>
        <p:nvSpPr>
          <p:cNvPr id="5" name="Text 3"/>
          <p:cNvSpPr txBox="1"/>
          <p:nvPr/>
        </p:nvSpPr>
        <p:spPr>
          <a:xfrm>
            <a:off x="548640" y="1234440"/>
            <a:ext cx="3840480" cy="2240280"/>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let index =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for (let i = 0; i &lt; lines.length; i++)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if (lines[i].trim() === '') continue;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const words = lines[i].toLowerCase()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.replace(/[^a-z0-9\s]/g,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.split(/\s+/);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words.forEach(word =&gt;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if (!index[word]) index[word] =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if (!index[word].includes(i))</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index[word].push(i);</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6" name="Text 4"/>
          <p:cNvSpPr txBox="1"/>
          <p:nvPr/>
        </p:nvSpPr>
        <p:spPr>
          <a:xfrm>
            <a:off x="4663440" y="868680"/>
            <a:ext cx="4023360" cy="274320"/>
          </a:xfrm>
          <a:prstGeom prst="rect">
            <a:avLst/>
          </a:prstGeom>
          <a:noFill/>
          <a:ln/>
        </p:spPr>
        <p:txBody>
          <a:bodyPr wrap="square" lIns="0" tIns="0" rIns="0" bIns="0" rtlCol="0" anchor="ctr"/>
          <a:lstStyle/>
          <a:p>
            <a:pPr indent="0" marL="0">
              <a:buNone/>
            </a:pPr>
            <a:r>
              <a:rPr lang="en-US" sz="1400" b="1" dirty="0">
                <a:solidFill>
                  <a:schemeClr val="accent1"/>
                </a:solidFill>
              </a:rPr>
              <a:t>Multi-keyword AND</a:t>
            </a:r>
            <a:endParaRPr lang="en-US" sz="1400" dirty="0"/>
          </a:p>
        </p:txBody>
      </p:sp>
      <p:sp>
        <p:nvSpPr>
          <p:cNvPr id="7" name="AND code panel"/>
          <p:cNvSpPr/>
          <p:nvPr/>
        </p:nvSpPr>
        <p:spPr>
          <a:xfrm>
            <a:off x="4663440" y="1188720"/>
            <a:ext cx="4023360" cy="2331720"/>
          </a:xfrm>
          <a:prstGeom prst="rect">
            <a:avLst/>
          </a:prstGeom>
          <a:solidFill>
            <a:schemeClr val="tx2"/>
          </a:solidFill>
          <a:ln w="12700">
            <a:solidFill>
              <a:schemeClr val="tx2"/>
            </a:solidFill>
            <a:prstDash val="solid"/>
          </a:ln>
        </p:spPr>
      </p:sp>
      <p:sp>
        <p:nvSpPr>
          <p:cNvPr id="8" name="Text 6"/>
          <p:cNvSpPr txBox="1"/>
          <p:nvPr/>
        </p:nvSpPr>
        <p:spPr>
          <a:xfrm>
            <a:off x="4754880" y="1234440"/>
            <a:ext cx="3840480" cy="2240280"/>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let found = index[keywords[0]] ||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for (let i = 1; i &lt; keywords.length; i++)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const next = index[keywords[i]] ||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found = found.filter(</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line =&gt; next.includes(line)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results.push(found);</a:t>
            </a:r>
            <a:endParaRPr lang="en-US" sz="1000" dirty="0"/>
          </a:p>
        </p:txBody>
      </p:sp>
      <p:sp>
        <p:nvSpPr>
          <p:cNvPr id="9" name="Sample output card"/>
          <p:cNvSpPr/>
          <p:nvPr/>
        </p:nvSpPr>
        <p:spPr>
          <a:xfrm>
            <a:off x="457200" y="3703320"/>
            <a:ext cx="8229600" cy="82296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40080" y="3703320"/>
            <a:ext cx="7863840" cy="822960"/>
          </a:xfrm>
          <a:prstGeom prst="rect">
            <a:avLst/>
          </a:prstGeom>
          <a:noFill/>
          <a:ln/>
        </p:spPr>
        <p:txBody>
          <a:bodyPr wrap="square" lIns="0" tIns="0" rIns="0" bIns="0" rtlCol="0" anchor="ctr"/>
          <a:lstStyle/>
          <a:p>
            <a:pPr indent="0" marL="0">
              <a:buNone/>
            </a:pPr>
            <a:r>
              <a:rPr lang="en-US" sz="1300" b="1" dirty="0">
                <a:solidFill>
                  <a:schemeClr val="accent1"/>
                </a:solidFill>
              </a:rPr>
              <a:t>Example: </a:t>
            </a:r>
            <a:pPr indent="0" marL="0">
              <a:buNone/>
            </a:pPr>
            <a:r>
              <a:rPr lang="en-US" sz="1300" dirty="0">
                <a:solidFill>
                  <a:schemeClr val="tx1"/>
                </a:solidFill>
              </a:rPr>
              <a:t>index = {"hello":[0,1], "world":[0,1], "test":[1]}.  Query "hello test" returns line [1]; "hello" returns [0, 1].</a:t>
            </a:r>
            <a:endParaRPr lang="en-US" sz="13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Learning Outcomes</a:t>
            </a:r>
            <a:endParaRPr lang="en-US" sz="2800" dirty="0"/>
          </a:p>
        </p:txBody>
      </p:sp>
      <p:sp>
        <p:nvSpPr>
          <p:cNvPr id="3" name="Outcome row 1"/>
          <p:cNvSpPr/>
          <p:nvPr/>
        </p:nvSpPr>
        <p:spPr>
          <a:xfrm>
            <a:off x="457200" y="914400"/>
            <a:ext cx="8229600" cy="65836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594360" y="996696"/>
            <a:ext cx="493776" cy="493776"/>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722742" y="1125078"/>
            <a:ext cx="237012" cy="237012"/>
          </a:xfrm>
          <a:prstGeom prst="rect">
            <a:avLst/>
          </a:prstGeom>
        </p:spPr>
      </p:pic>
      <p:sp>
        <p:nvSpPr>
          <p:cNvPr id="6" name="Text 3"/>
          <p:cNvSpPr txBox="1"/>
          <p:nvPr/>
        </p:nvSpPr>
        <p:spPr>
          <a:xfrm>
            <a:off x="1325880" y="914400"/>
            <a:ext cx="2651760" cy="658368"/>
          </a:xfrm>
          <a:prstGeom prst="rect">
            <a:avLst/>
          </a:prstGeom>
          <a:noFill/>
          <a:ln/>
        </p:spPr>
        <p:txBody>
          <a:bodyPr wrap="square" lIns="0" tIns="0" rIns="0" bIns="0" rtlCol="0" anchor="ctr"/>
          <a:lstStyle/>
          <a:p>
            <a:pPr indent="0" marL="0">
              <a:buNone/>
            </a:pPr>
            <a:r>
              <a:rPr lang="en-US" sz="1500" b="1" dirty="0">
                <a:solidFill>
                  <a:schemeClr val="tx2"/>
                </a:solidFill>
              </a:rPr>
              <a:t>Text processing</a:t>
            </a:r>
            <a:endParaRPr lang="en-US" sz="1500" dirty="0"/>
          </a:p>
        </p:txBody>
      </p:sp>
      <p:sp>
        <p:nvSpPr>
          <p:cNvPr id="7" name="Text 4"/>
          <p:cNvSpPr txBox="1"/>
          <p:nvPr/>
        </p:nvSpPr>
        <p:spPr>
          <a:xfrm>
            <a:off x="4023360" y="914400"/>
            <a:ext cx="4572000" cy="658368"/>
          </a:xfrm>
          <a:prstGeom prst="rect">
            <a:avLst/>
          </a:prstGeom>
          <a:noFill/>
          <a:ln/>
        </p:spPr>
        <p:txBody>
          <a:bodyPr wrap="square" lIns="0" tIns="0" rIns="0" bIns="0" rtlCol="0" anchor="ctr"/>
          <a:lstStyle/>
          <a:p>
            <a:pPr indent="0" marL="0">
              <a:buNone/>
            </a:pPr>
            <a:r>
              <a:rPr lang="en-US" sz="1400" dirty="0">
                <a:solidFill>
                  <a:schemeClr val="tx1"/>
                </a:solidFill>
              </a:rPr>
              <a:t>Tokenization and normalization techniques</a:t>
            </a:r>
            <a:endParaRPr lang="en-US" sz="1400" dirty="0"/>
          </a:p>
        </p:txBody>
      </p:sp>
      <p:sp>
        <p:nvSpPr>
          <p:cNvPr id="8" name="Outcome row 2"/>
          <p:cNvSpPr/>
          <p:nvPr/>
        </p:nvSpPr>
        <p:spPr>
          <a:xfrm>
            <a:off x="457200" y="1682496"/>
            <a:ext cx="8229600" cy="65836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594360" y="1764792"/>
            <a:ext cx="493776" cy="493776"/>
          </a:xfrm>
          <a:prstGeom prst="ellipse">
            <a:avLst/>
          </a:prstGeom>
          <a:solidFill>
            <a:schemeClr val="tx2"/>
          </a:solidFill>
          <a:ln w="12700">
            <a:solidFill>
              <a:schemeClr val="tx2"/>
            </a:solidFill>
            <a:prstDash val="solid"/>
          </a:ln>
        </p:spPr>
      </p:sp>
      <p:pic>
        <p:nvPicPr>
          <p:cNvPr id="10" name="Image 1" descr="icon">    </p:cNvPr>
          <p:cNvPicPr>
            <a:picLocks noChangeAspect="1"/>
          </p:cNvPicPr>
          <p:nvPr/>
        </p:nvPicPr>
        <p:blipFill>
          <a:blip r:embed="rId2"/>
          <a:stretch>
            <a:fillRect/>
          </a:stretch>
        </p:blipFill>
        <p:spPr>
          <a:xfrm>
            <a:off x="722742" y="1893174"/>
            <a:ext cx="237012" cy="237012"/>
          </a:xfrm>
          <a:prstGeom prst="rect">
            <a:avLst/>
          </a:prstGeom>
        </p:spPr>
      </p:pic>
      <p:sp>
        <p:nvSpPr>
          <p:cNvPr id="11" name="Text 7"/>
          <p:cNvSpPr txBox="1"/>
          <p:nvPr/>
        </p:nvSpPr>
        <p:spPr>
          <a:xfrm>
            <a:off x="1325880" y="1682496"/>
            <a:ext cx="2651760" cy="658368"/>
          </a:xfrm>
          <a:prstGeom prst="rect">
            <a:avLst/>
          </a:prstGeom>
          <a:noFill/>
          <a:ln/>
        </p:spPr>
        <p:txBody>
          <a:bodyPr wrap="square" lIns="0" tIns="0" rIns="0" bIns="0" rtlCol="0" anchor="ctr"/>
          <a:lstStyle/>
          <a:p>
            <a:pPr indent="0" marL="0">
              <a:buNone/>
            </a:pPr>
            <a:r>
              <a:rPr lang="en-US" sz="1500" b="1" dirty="0">
                <a:solidFill>
                  <a:schemeClr val="tx2"/>
                </a:solidFill>
              </a:rPr>
              <a:t>Inverted indexing</a:t>
            </a:r>
            <a:endParaRPr lang="en-US" sz="1500" dirty="0"/>
          </a:p>
        </p:txBody>
      </p:sp>
      <p:sp>
        <p:nvSpPr>
          <p:cNvPr id="12" name="Text 8"/>
          <p:cNvSpPr txBox="1"/>
          <p:nvPr/>
        </p:nvSpPr>
        <p:spPr>
          <a:xfrm>
            <a:off x="4023360" y="1682496"/>
            <a:ext cx="4572000" cy="658368"/>
          </a:xfrm>
          <a:prstGeom prst="rect">
            <a:avLst/>
          </a:prstGeom>
          <a:noFill/>
          <a:ln/>
        </p:spPr>
        <p:txBody>
          <a:bodyPr wrap="square" lIns="0" tIns="0" rIns="0" bIns="0" rtlCol="0" anchor="ctr"/>
          <a:lstStyle/>
          <a:p>
            <a:pPr indent="0" marL="0">
              <a:buNone/>
            </a:pPr>
            <a:r>
              <a:rPr lang="en-US" sz="1400" dirty="0">
                <a:solidFill>
                  <a:schemeClr val="tx1"/>
                </a:solidFill>
              </a:rPr>
              <a:t>How indexes enable efficient text search</a:t>
            </a:r>
            <a:endParaRPr lang="en-US" sz="1400" dirty="0"/>
          </a:p>
        </p:txBody>
      </p:sp>
      <p:sp>
        <p:nvSpPr>
          <p:cNvPr id="13" name="Outcome row 3"/>
          <p:cNvSpPr/>
          <p:nvPr/>
        </p:nvSpPr>
        <p:spPr>
          <a:xfrm>
            <a:off x="457200" y="2450592"/>
            <a:ext cx="8229600" cy="65836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con circle"/>
          <p:cNvSpPr/>
          <p:nvPr/>
        </p:nvSpPr>
        <p:spPr>
          <a:xfrm>
            <a:off x="594360" y="2532888"/>
            <a:ext cx="493776" cy="493776"/>
          </a:xfrm>
          <a:prstGeom prst="ellipse">
            <a:avLst/>
          </a:prstGeom>
          <a:solidFill>
            <a:schemeClr val="accent1"/>
          </a:solidFill>
          <a:ln w="12700">
            <a:solidFill>
              <a:schemeClr val="accent1"/>
            </a:solidFill>
            <a:prstDash val="solid"/>
          </a:ln>
        </p:spPr>
      </p:sp>
      <p:pic>
        <p:nvPicPr>
          <p:cNvPr id="15" name="Image 2" descr="icon">    </p:cNvPr>
          <p:cNvPicPr>
            <a:picLocks noChangeAspect="1"/>
          </p:cNvPicPr>
          <p:nvPr/>
        </p:nvPicPr>
        <p:blipFill>
          <a:blip r:embed="rId3"/>
          <a:stretch>
            <a:fillRect/>
          </a:stretch>
        </p:blipFill>
        <p:spPr>
          <a:xfrm>
            <a:off x="722742" y="2661270"/>
            <a:ext cx="237012" cy="237012"/>
          </a:xfrm>
          <a:prstGeom prst="rect">
            <a:avLst/>
          </a:prstGeom>
        </p:spPr>
      </p:pic>
      <p:sp>
        <p:nvSpPr>
          <p:cNvPr id="16" name="Text 11"/>
          <p:cNvSpPr txBox="1"/>
          <p:nvPr/>
        </p:nvSpPr>
        <p:spPr>
          <a:xfrm>
            <a:off x="1325880" y="2450592"/>
            <a:ext cx="2651760" cy="658368"/>
          </a:xfrm>
          <a:prstGeom prst="rect">
            <a:avLst/>
          </a:prstGeom>
          <a:noFill/>
          <a:ln/>
        </p:spPr>
        <p:txBody>
          <a:bodyPr wrap="square" lIns="0" tIns="0" rIns="0" bIns="0" rtlCol="0" anchor="ctr"/>
          <a:lstStyle/>
          <a:p>
            <a:pPr indent="0" marL="0">
              <a:buNone/>
            </a:pPr>
            <a:r>
              <a:rPr lang="en-US" sz="1500" b="1" dirty="0">
                <a:solidFill>
                  <a:schemeClr val="tx2"/>
                </a:solidFill>
              </a:rPr>
              <a:t>Search algorithms</a:t>
            </a:r>
            <a:endParaRPr lang="en-US" sz="1500" dirty="0"/>
          </a:p>
        </p:txBody>
      </p:sp>
      <p:sp>
        <p:nvSpPr>
          <p:cNvPr id="17" name="Text 12"/>
          <p:cNvSpPr txBox="1"/>
          <p:nvPr/>
        </p:nvSpPr>
        <p:spPr>
          <a:xfrm>
            <a:off x="4023360" y="2450592"/>
            <a:ext cx="4572000" cy="658368"/>
          </a:xfrm>
          <a:prstGeom prst="rect">
            <a:avLst/>
          </a:prstGeom>
          <a:noFill/>
          <a:ln/>
        </p:spPr>
        <p:txBody>
          <a:bodyPr wrap="square" lIns="0" tIns="0" rIns="0" bIns="0" rtlCol="0" anchor="ctr"/>
          <a:lstStyle/>
          <a:p>
            <a:pPr indent="0" marL="0">
              <a:buNone/>
            </a:pPr>
            <a:r>
              <a:rPr lang="en-US" sz="1400" dirty="0">
                <a:solidFill>
                  <a:schemeClr val="tx1"/>
                </a:solidFill>
              </a:rPr>
              <a:t>Single and multi-keyword query design</a:t>
            </a:r>
            <a:endParaRPr lang="en-US" sz="1400" dirty="0"/>
          </a:p>
        </p:txBody>
      </p:sp>
      <p:sp>
        <p:nvSpPr>
          <p:cNvPr id="18" name="Outcome row 4"/>
          <p:cNvSpPr/>
          <p:nvPr/>
        </p:nvSpPr>
        <p:spPr>
          <a:xfrm>
            <a:off x="457200" y="3218688"/>
            <a:ext cx="8229600" cy="65836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Icon circle"/>
          <p:cNvSpPr/>
          <p:nvPr/>
        </p:nvSpPr>
        <p:spPr>
          <a:xfrm>
            <a:off x="594360" y="3300984"/>
            <a:ext cx="493776" cy="493776"/>
          </a:xfrm>
          <a:prstGeom prst="ellipse">
            <a:avLst/>
          </a:prstGeom>
          <a:solidFill>
            <a:schemeClr val="tx2"/>
          </a:solidFill>
          <a:ln w="12700">
            <a:solidFill>
              <a:schemeClr val="tx2"/>
            </a:solidFill>
            <a:prstDash val="solid"/>
          </a:ln>
        </p:spPr>
      </p:sp>
      <p:pic>
        <p:nvPicPr>
          <p:cNvPr id="20" name="Image 3" descr="icon">    </p:cNvPr>
          <p:cNvPicPr>
            <a:picLocks noChangeAspect="1"/>
          </p:cNvPicPr>
          <p:nvPr/>
        </p:nvPicPr>
        <p:blipFill>
          <a:blip r:embed="rId4"/>
          <a:stretch>
            <a:fillRect/>
          </a:stretch>
        </p:blipFill>
        <p:spPr>
          <a:xfrm>
            <a:off x="722742" y="3429366"/>
            <a:ext cx="237012" cy="237012"/>
          </a:xfrm>
          <a:prstGeom prst="rect">
            <a:avLst/>
          </a:prstGeom>
        </p:spPr>
      </p:pic>
      <p:sp>
        <p:nvSpPr>
          <p:cNvPr id="21" name="Text 15"/>
          <p:cNvSpPr txBox="1"/>
          <p:nvPr/>
        </p:nvSpPr>
        <p:spPr>
          <a:xfrm>
            <a:off x="1325880" y="3218688"/>
            <a:ext cx="2651760" cy="658368"/>
          </a:xfrm>
          <a:prstGeom prst="rect">
            <a:avLst/>
          </a:prstGeom>
          <a:noFill/>
          <a:ln/>
        </p:spPr>
        <p:txBody>
          <a:bodyPr wrap="square" lIns="0" tIns="0" rIns="0" bIns="0" rtlCol="0" anchor="ctr"/>
          <a:lstStyle/>
          <a:p>
            <a:pPr indent="0" marL="0">
              <a:buNone/>
            </a:pPr>
            <a:r>
              <a:rPr lang="en-US" sz="1500" b="1" dirty="0">
                <a:solidFill>
                  <a:schemeClr val="tx2"/>
                </a:solidFill>
              </a:rPr>
              <a:t>Data structures</a:t>
            </a:r>
            <a:endParaRPr lang="en-US" sz="1500" dirty="0"/>
          </a:p>
        </p:txBody>
      </p:sp>
      <p:sp>
        <p:nvSpPr>
          <p:cNvPr id="22" name="Text 16"/>
          <p:cNvSpPr txBox="1"/>
          <p:nvPr/>
        </p:nvSpPr>
        <p:spPr>
          <a:xfrm>
            <a:off x="4023360" y="3218688"/>
            <a:ext cx="4572000" cy="658368"/>
          </a:xfrm>
          <a:prstGeom prst="rect">
            <a:avLst/>
          </a:prstGeom>
          <a:noFill/>
          <a:ln/>
        </p:spPr>
        <p:txBody>
          <a:bodyPr wrap="square" lIns="0" tIns="0" rIns="0" bIns="0" rtlCol="0" anchor="ctr"/>
          <a:lstStyle/>
          <a:p>
            <a:pPr indent="0" marL="0">
              <a:buNone/>
            </a:pPr>
            <a:r>
              <a:rPr lang="en-US" sz="1400" dirty="0">
                <a:solidFill>
                  <a:schemeClr val="tx1"/>
                </a:solidFill>
              </a:rPr>
              <a:t>JavaScript objects and arrays for indexing</a:t>
            </a:r>
            <a:endParaRPr lang="en-US" sz="1400" dirty="0"/>
          </a:p>
        </p:txBody>
      </p:sp>
      <p:sp>
        <p:nvSpPr>
          <p:cNvPr id="23" name="Outcome row 5"/>
          <p:cNvSpPr/>
          <p:nvPr/>
        </p:nvSpPr>
        <p:spPr>
          <a:xfrm>
            <a:off x="457200" y="3986784"/>
            <a:ext cx="8229600" cy="65836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Icon circle"/>
          <p:cNvSpPr/>
          <p:nvPr/>
        </p:nvSpPr>
        <p:spPr>
          <a:xfrm>
            <a:off x="594360" y="4069080"/>
            <a:ext cx="493776" cy="493776"/>
          </a:xfrm>
          <a:prstGeom prst="ellipse">
            <a:avLst/>
          </a:prstGeom>
          <a:solidFill>
            <a:schemeClr val="accent1"/>
          </a:solidFill>
          <a:ln w="12700">
            <a:solidFill>
              <a:schemeClr val="accent1"/>
            </a:solidFill>
            <a:prstDash val="solid"/>
          </a:ln>
        </p:spPr>
      </p:sp>
      <p:pic>
        <p:nvPicPr>
          <p:cNvPr id="25" name="Image 4" descr="icon">    </p:cNvPr>
          <p:cNvPicPr>
            <a:picLocks noChangeAspect="1"/>
          </p:cNvPicPr>
          <p:nvPr/>
        </p:nvPicPr>
        <p:blipFill>
          <a:blip r:embed="rId5"/>
          <a:stretch>
            <a:fillRect/>
          </a:stretch>
        </p:blipFill>
        <p:spPr>
          <a:xfrm>
            <a:off x="722742" y="4197462"/>
            <a:ext cx="237012" cy="237012"/>
          </a:xfrm>
          <a:prstGeom prst="rect">
            <a:avLst/>
          </a:prstGeom>
        </p:spPr>
      </p:pic>
      <p:sp>
        <p:nvSpPr>
          <p:cNvPr id="26" name="Text 19"/>
          <p:cNvSpPr txBox="1"/>
          <p:nvPr/>
        </p:nvSpPr>
        <p:spPr>
          <a:xfrm>
            <a:off x="1325880" y="3986784"/>
            <a:ext cx="2651760" cy="658368"/>
          </a:xfrm>
          <a:prstGeom prst="rect">
            <a:avLst/>
          </a:prstGeom>
          <a:noFill/>
          <a:ln/>
        </p:spPr>
        <p:txBody>
          <a:bodyPr wrap="square" lIns="0" tIns="0" rIns="0" bIns="0" rtlCol="0" anchor="ctr"/>
          <a:lstStyle/>
          <a:p>
            <a:pPr indent="0" marL="0">
              <a:buNone/>
            </a:pPr>
            <a:r>
              <a:rPr lang="en-US" sz="1500" b="1" dirty="0">
                <a:solidFill>
                  <a:schemeClr val="tx2"/>
                </a:solidFill>
              </a:rPr>
              <a:t>Problem solving</a:t>
            </a:r>
            <a:endParaRPr lang="en-US" sz="1500" dirty="0"/>
          </a:p>
        </p:txBody>
      </p:sp>
      <p:sp>
        <p:nvSpPr>
          <p:cNvPr id="27" name="Text 20"/>
          <p:cNvSpPr txBox="1"/>
          <p:nvPr/>
        </p:nvSpPr>
        <p:spPr>
          <a:xfrm>
            <a:off x="4023360" y="3986784"/>
            <a:ext cx="4572000" cy="658368"/>
          </a:xfrm>
          <a:prstGeom prst="rect">
            <a:avLst/>
          </a:prstGeom>
          <a:noFill/>
          <a:ln/>
        </p:spPr>
        <p:txBody>
          <a:bodyPr wrap="square" lIns="0" tIns="0" rIns="0" bIns="0" rtlCol="0" anchor="ctr"/>
          <a:lstStyle/>
          <a:p>
            <a:pPr indent="0" marL="0">
              <a:buNone/>
            </a:pPr>
            <a:r>
              <a:rPr lang="en-US" sz="1400" dirty="0">
                <a:solidFill>
                  <a:schemeClr val="tx1"/>
                </a:solidFill>
              </a:rPr>
              <a:t>Complex string operations and search logic</a:t>
            </a:r>
            <a:endParaRPr lang="en-US" sz="14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Challenges Faced &amp; Solutions</a:t>
            </a:r>
            <a:endParaRPr lang="en-US" sz="2800" dirty="0"/>
          </a:p>
        </p:txBody>
      </p:sp>
      <p:sp>
        <p:nvSpPr>
          <p:cNvPr id="3" name="Text 1"/>
          <p:cNvSpPr txBox="1"/>
          <p:nvPr/>
        </p:nvSpPr>
        <p:spPr>
          <a:xfrm>
            <a:off x="457200" y="868680"/>
            <a:ext cx="3383280" cy="274320"/>
          </a:xfrm>
          <a:prstGeom prst="rect">
            <a:avLst/>
          </a:prstGeom>
          <a:noFill/>
          <a:ln/>
        </p:spPr>
        <p:txBody>
          <a:bodyPr wrap="square" lIns="0" tIns="0" rIns="0" bIns="0" rtlCol="0" anchor="ctr"/>
          <a:lstStyle/>
          <a:p>
            <a:pPr indent="0" marL="0">
              <a:buNone/>
            </a:pPr>
            <a:r>
              <a:rPr lang="en-US" sz="1300" b="1" dirty="0">
                <a:solidFill>
                  <a:schemeClr val="accent5"/>
                </a:solidFill>
              </a:rPr>
              <a:t>Challenge</a:t>
            </a:r>
            <a:endParaRPr lang="en-US" sz="1300" dirty="0"/>
          </a:p>
        </p:txBody>
      </p:sp>
      <p:sp>
        <p:nvSpPr>
          <p:cNvPr id="4" name="Text 2"/>
          <p:cNvSpPr txBox="1"/>
          <p:nvPr/>
        </p:nvSpPr>
        <p:spPr>
          <a:xfrm>
            <a:off x="4251960" y="868680"/>
            <a:ext cx="4389120" cy="274320"/>
          </a:xfrm>
          <a:prstGeom prst="rect">
            <a:avLst/>
          </a:prstGeom>
          <a:noFill/>
          <a:ln/>
        </p:spPr>
        <p:txBody>
          <a:bodyPr wrap="square" lIns="0" tIns="0" rIns="0" bIns="0" rtlCol="0" anchor="ctr"/>
          <a:lstStyle/>
          <a:p>
            <a:pPr indent="0" marL="0">
              <a:buNone/>
            </a:pPr>
            <a:r>
              <a:rPr lang="en-US" sz="1300" b="1" dirty="0">
                <a:solidFill>
                  <a:schemeClr val="accent5"/>
                </a:solidFill>
              </a:rPr>
              <a:t>Solution</a:t>
            </a:r>
            <a:endParaRPr lang="en-US" sz="1300" dirty="0"/>
          </a:p>
        </p:txBody>
      </p:sp>
      <p:sp>
        <p:nvSpPr>
          <p:cNvPr id="5" name="Challenge card 1"/>
          <p:cNvSpPr/>
          <p:nvPr/>
        </p:nvSpPr>
        <p:spPr>
          <a:xfrm>
            <a:off x="457200" y="1188720"/>
            <a:ext cx="3566160" cy="96012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640080" y="1188720"/>
            <a:ext cx="3246120" cy="960120"/>
          </a:xfrm>
          <a:prstGeom prst="rect">
            <a:avLst/>
          </a:prstGeom>
          <a:noFill/>
          <a:ln/>
        </p:spPr>
        <p:txBody>
          <a:bodyPr wrap="square" lIns="0" tIns="0" rIns="0" bIns="0" rtlCol="0" anchor="ctr"/>
          <a:lstStyle/>
          <a:p>
            <a:pPr indent="0" marL="0">
              <a:buNone/>
            </a:pPr>
            <a:r>
              <a:rPr lang="en-US" sz="1500" b="1" dirty="0">
                <a:solidFill>
                  <a:schemeClr val="accent1"/>
                </a:solidFill>
              </a:rPr>
              <a:t>Case and punctuation in matching</a:t>
            </a:r>
            <a:endParaRPr lang="en-US" sz="1500" dirty="0"/>
          </a:p>
        </p:txBody>
      </p:sp>
      <p:sp>
        <p:nvSpPr>
          <p:cNvPr id="7" name="Solution card 1"/>
          <p:cNvSpPr/>
          <p:nvPr/>
        </p:nvSpPr>
        <p:spPr>
          <a:xfrm>
            <a:off x="4251960" y="1188720"/>
            <a:ext cx="4434840" cy="9601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4434840" y="1188720"/>
            <a:ext cx="4114800" cy="960120"/>
          </a:xfrm>
          <a:prstGeom prst="rect">
            <a:avLst/>
          </a:prstGeom>
          <a:noFill/>
          <a:ln/>
        </p:spPr>
        <p:txBody>
          <a:bodyPr wrap="square" lIns="0" tIns="0" rIns="0" bIns="0" rtlCol="0" anchor="ctr"/>
          <a:lstStyle/>
          <a:p>
            <a:pPr indent="0" marL="0">
              <a:buNone/>
            </a:pPr>
            <a:r>
              <a:rPr lang="en-US" sz="1400" dirty="0">
                <a:solidFill>
                  <a:schemeClr val="tx1"/>
                </a:solidFill>
              </a:rPr>
              <a:t>Multi-step normalization: lowercase plus regex to remove unwanted characters.</a:t>
            </a:r>
            <a:endParaRPr lang="en-US" sz="1400" dirty="0"/>
          </a:p>
        </p:txBody>
      </p:sp>
      <p:sp>
        <p:nvSpPr>
          <p:cNvPr id="9" name="Challenge card 2"/>
          <p:cNvSpPr/>
          <p:nvPr/>
        </p:nvSpPr>
        <p:spPr>
          <a:xfrm>
            <a:off x="457200" y="2286000"/>
            <a:ext cx="3566160" cy="96012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40080" y="2286000"/>
            <a:ext cx="3246120" cy="960120"/>
          </a:xfrm>
          <a:prstGeom prst="rect">
            <a:avLst/>
          </a:prstGeom>
          <a:noFill/>
          <a:ln/>
        </p:spPr>
        <p:txBody>
          <a:bodyPr wrap="square" lIns="0" tIns="0" rIns="0" bIns="0" rtlCol="0" anchor="ctr"/>
          <a:lstStyle/>
          <a:p>
            <a:pPr indent="0" marL="0">
              <a:buNone/>
            </a:pPr>
            <a:r>
              <a:rPr lang="en-US" sz="1500" b="1" dirty="0">
                <a:solidFill>
                  <a:schemeClr val="accent1"/>
                </a:solidFill>
              </a:rPr>
              <a:t>Efficient multi-keyword AND search</a:t>
            </a:r>
            <a:endParaRPr lang="en-US" sz="1500" dirty="0"/>
          </a:p>
        </p:txBody>
      </p:sp>
      <p:sp>
        <p:nvSpPr>
          <p:cNvPr id="11" name="Solution card 2"/>
          <p:cNvSpPr/>
          <p:nvPr/>
        </p:nvSpPr>
        <p:spPr>
          <a:xfrm>
            <a:off x="4251960" y="2286000"/>
            <a:ext cx="4434840" cy="9601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4434840" y="2286000"/>
            <a:ext cx="4114800" cy="960120"/>
          </a:xfrm>
          <a:prstGeom prst="rect">
            <a:avLst/>
          </a:prstGeom>
          <a:noFill/>
          <a:ln/>
        </p:spPr>
        <p:txBody>
          <a:bodyPr wrap="square" lIns="0" tIns="0" rIns="0" bIns="0" rtlCol="0" anchor="ctr"/>
          <a:lstStyle/>
          <a:p>
            <a:pPr indent="0" marL="0">
              <a:buNone/>
            </a:pPr>
            <a:r>
              <a:rPr lang="en-US" sz="1400" dirty="0">
                <a:solidFill>
                  <a:schemeClr val="tx1"/>
                </a:solidFill>
              </a:rPr>
              <a:t>Intersected the line-number lists retrieved from the index for each keyword.</a:t>
            </a:r>
            <a:endParaRPr lang="en-US" sz="1400" dirty="0"/>
          </a:p>
        </p:txBody>
      </p:sp>
      <p:sp>
        <p:nvSpPr>
          <p:cNvPr id="13" name="Challenge card 3"/>
          <p:cNvSpPr/>
          <p:nvPr/>
        </p:nvSpPr>
        <p:spPr>
          <a:xfrm>
            <a:off x="457200" y="3383280"/>
            <a:ext cx="3566160" cy="960120"/>
          </a:xfrm>
          <a:prstGeom prst="rect">
            <a:avLst/>
          </a:prstGeom>
          <a:solidFill>
            <a:schemeClr val="accent6"/>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40080" y="3383280"/>
            <a:ext cx="3246120" cy="960120"/>
          </a:xfrm>
          <a:prstGeom prst="rect">
            <a:avLst/>
          </a:prstGeom>
          <a:noFill/>
          <a:ln/>
        </p:spPr>
        <p:txBody>
          <a:bodyPr wrap="square" lIns="0" tIns="0" rIns="0" bIns="0" rtlCol="0" anchor="ctr"/>
          <a:lstStyle/>
          <a:p>
            <a:pPr indent="0" marL="0">
              <a:buNone/>
            </a:pPr>
            <a:r>
              <a:rPr lang="en-US" sz="1500" b="1" dirty="0">
                <a:solidFill>
                  <a:schemeClr val="accent1"/>
                </a:solidFill>
              </a:rPr>
              <a:t>Accurate occurrence counts</a:t>
            </a:r>
            <a:endParaRPr lang="en-US" sz="1500" dirty="0"/>
          </a:p>
        </p:txBody>
      </p:sp>
      <p:sp>
        <p:nvSpPr>
          <p:cNvPr id="15" name="Solution card 3"/>
          <p:cNvSpPr/>
          <p:nvPr/>
        </p:nvSpPr>
        <p:spPr>
          <a:xfrm>
            <a:off x="4251960" y="3383280"/>
            <a:ext cx="4434840" cy="96012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4434840" y="3383280"/>
            <a:ext cx="4114800" cy="960120"/>
          </a:xfrm>
          <a:prstGeom prst="rect">
            <a:avLst/>
          </a:prstGeom>
          <a:noFill/>
          <a:ln/>
        </p:spPr>
        <p:txBody>
          <a:bodyPr wrap="square" lIns="0" tIns="0" rIns="0" bIns="0" rtlCol="0" anchor="ctr"/>
          <a:lstStyle/>
          <a:p>
            <a:pPr indent="0" marL="0">
              <a:buNone/>
            </a:pPr>
            <a:r>
              <a:rPr lang="en-US" sz="1400" dirty="0">
                <a:solidFill>
                  <a:schemeClr val="tx1"/>
                </a:solidFill>
              </a:rPr>
              <a:t>Re-processed only the matched lines to count keywords, since the index tracks presence, not counts.</a:t>
            </a:r>
            <a:endParaRPr lang="en-US" sz="14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Conclusion &amp; Future Scope</a:t>
            </a:r>
            <a:endParaRPr lang="en-US" sz="2800" dirty="0"/>
          </a:p>
        </p:txBody>
      </p:sp>
      <p:sp>
        <p:nvSpPr>
          <p:cNvPr id="3" name="Conclusion card"/>
          <p:cNvSpPr/>
          <p:nvPr/>
        </p:nvSpPr>
        <p:spPr>
          <a:xfrm>
            <a:off x="457200" y="960120"/>
            <a:ext cx="4023360" cy="329184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con circle"/>
          <p:cNvSpPr/>
          <p:nvPr/>
        </p:nvSpPr>
        <p:spPr>
          <a:xfrm>
            <a:off x="640080" y="1097280"/>
            <a:ext cx="548640" cy="548640"/>
          </a:xfrm>
          <a:prstGeom prst="ellipse">
            <a:avLst/>
          </a:prstGeom>
          <a:solidFill>
            <a:schemeClr val="accent1"/>
          </a:solidFill>
          <a:ln w="12700">
            <a:solidFill>
              <a:schemeClr val="accent1"/>
            </a:solidFill>
            <a:prstDash val="solid"/>
          </a:ln>
        </p:spPr>
      </p:sp>
      <p:pic>
        <p:nvPicPr>
          <p:cNvPr id="5" name="Image 0" descr="icon">    </p:cNvPr>
          <p:cNvPicPr>
            <a:picLocks noChangeAspect="1"/>
          </p:cNvPicPr>
          <p:nvPr/>
        </p:nvPicPr>
        <p:blipFill>
          <a:blip r:embed="rId1"/>
          <a:stretch>
            <a:fillRect/>
          </a:stretch>
        </p:blipFill>
        <p:spPr>
          <a:xfrm>
            <a:off x="782726" y="1239926"/>
            <a:ext cx="263347" cy="263347"/>
          </a:xfrm>
          <a:prstGeom prst="rect">
            <a:avLst/>
          </a:prstGeom>
        </p:spPr>
      </p:pic>
      <p:sp>
        <p:nvSpPr>
          <p:cNvPr id="6" name="Text 3"/>
          <p:cNvSpPr txBox="1"/>
          <p:nvPr/>
        </p:nvSpPr>
        <p:spPr>
          <a:xfrm>
            <a:off x="1325880" y="1097280"/>
            <a:ext cx="3017520" cy="54864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Conclusion</a:t>
            </a:r>
            <a:endParaRPr lang="en-US" sz="1800" dirty="0"/>
          </a:p>
        </p:txBody>
      </p:sp>
      <p:sp>
        <p:nvSpPr>
          <p:cNvPr id="7" name="Text 4"/>
          <p:cNvSpPr txBox="1"/>
          <p:nvPr/>
        </p:nvSpPr>
        <p:spPr>
          <a:xfrm>
            <a:off x="640080" y="1828800"/>
            <a:ext cx="3657600" cy="2286000"/>
          </a:xfrm>
          <a:prstGeom prst="rect">
            <a:avLst/>
          </a:prstGeom>
          <a:noFill/>
          <a:ln/>
        </p:spPr>
        <p:txBody>
          <a:bodyPr wrap="square" lIns="0" tIns="0" rIns="0" bIns="0" rtlCol="0" anchor="t"/>
          <a:lstStyle/>
          <a:p>
            <a:pPr indent="0" marL="0">
              <a:buNone/>
            </a:pPr>
            <a:r>
              <a:rPr lang="en-US" sz="1500" dirty="0">
                <a:solidFill>
                  <a:schemeClr val="tx1"/>
                </a:solidFill>
              </a:rPr>
              <a:t>The Text Search Indexer delivers an efficient approach to text processing and retrieval. Normalization, inverted indexing, single and multi-keyword search and occurrence summaries show core data structure and algorithm principles applied to real information-access problems.</a:t>
            </a:r>
            <a:endParaRPr lang="en-US" sz="1500" dirty="0"/>
          </a:p>
        </p:txBody>
      </p:sp>
      <p:sp>
        <p:nvSpPr>
          <p:cNvPr id="8" name="Future scope card"/>
          <p:cNvSpPr/>
          <p:nvPr/>
        </p:nvSpPr>
        <p:spPr>
          <a:xfrm>
            <a:off x="4663440" y="960120"/>
            <a:ext cx="4023360" cy="3291840"/>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con circle"/>
          <p:cNvSpPr/>
          <p:nvPr/>
        </p:nvSpPr>
        <p:spPr>
          <a:xfrm>
            <a:off x="4846320" y="1097280"/>
            <a:ext cx="548640" cy="548640"/>
          </a:xfrm>
          <a:prstGeom prst="ellipse">
            <a:avLst/>
          </a:prstGeom>
          <a:solidFill>
            <a:schemeClr val="tx2"/>
          </a:solidFill>
          <a:ln w="12700">
            <a:solidFill>
              <a:schemeClr val="tx2"/>
            </a:solidFill>
            <a:prstDash val="solid"/>
          </a:ln>
        </p:spPr>
      </p:sp>
      <p:pic>
        <p:nvPicPr>
          <p:cNvPr id="10" name="Image 1" descr="icon">    </p:cNvPr>
          <p:cNvPicPr>
            <a:picLocks noChangeAspect="1"/>
          </p:cNvPicPr>
          <p:nvPr/>
        </p:nvPicPr>
        <p:blipFill>
          <a:blip r:embed="rId2"/>
          <a:stretch>
            <a:fillRect/>
          </a:stretch>
        </p:blipFill>
        <p:spPr>
          <a:xfrm>
            <a:off x="4988966" y="1239926"/>
            <a:ext cx="263347" cy="263347"/>
          </a:xfrm>
          <a:prstGeom prst="rect">
            <a:avLst/>
          </a:prstGeom>
        </p:spPr>
      </p:pic>
      <p:sp>
        <p:nvSpPr>
          <p:cNvPr id="11" name="Text 7"/>
          <p:cNvSpPr txBox="1"/>
          <p:nvPr/>
        </p:nvSpPr>
        <p:spPr>
          <a:xfrm>
            <a:off x="5532120" y="1097280"/>
            <a:ext cx="301752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Future Scope</a:t>
            </a:r>
            <a:endParaRPr lang="en-US" sz="1800" dirty="0"/>
          </a:p>
        </p:txBody>
      </p:sp>
      <p:sp>
        <p:nvSpPr>
          <p:cNvPr id="12" name="Text 8"/>
          <p:cNvSpPr txBox="1"/>
          <p:nvPr/>
        </p:nvSpPr>
        <p:spPr>
          <a:xfrm>
            <a:off x="4846320" y="1828800"/>
            <a:ext cx="3657600" cy="22860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OR and NOT search operators</a:t>
            </a:r>
            <a:endParaRPr lang="en-US" sz="1500" dirty="0"/>
          </a:p>
          <a:p>
            <a:pPr marL="342900" indent="-342900">
              <a:spcAft>
                <a:spcPts val="1000"/>
              </a:spcAft>
              <a:buSzPct val="100000"/>
              <a:buChar char="•"/>
            </a:pPr>
            <a:r>
              <a:rPr lang="en-US" sz="1500" dirty="0">
                <a:solidFill>
                  <a:schemeClr val="tx1"/>
                </a:solidFill>
              </a:rPr>
              <a:t>Fuzzy search for misspellings and variations</a:t>
            </a:r>
            <a:endParaRPr lang="en-US" sz="1500" dirty="0"/>
          </a:p>
          <a:p>
            <a:pPr marL="342900" indent="-342900">
              <a:spcAft>
                <a:spcPts val="1000"/>
              </a:spcAft>
              <a:buSzPct val="100000"/>
              <a:buChar char="•"/>
            </a:pPr>
            <a:r>
              <a:rPr lang="en-US" sz="1500" dirty="0">
                <a:solidFill>
                  <a:schemeClr val="tx1"/>
                </a:solidFill>
              </a:rPr>
              <a:t>Search across multiple documents or files concurrently</a:t>
            </a:r>
            <a:endParaRPr lang="en-US" sz="15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lide title"/>
          <p:cNvSpPr txBox="1"/>
          <p:nvPr/>
        </p:nvSpPr>
        <p:spPr>
          <a:xfrm>
            <a:off x="1051560" y="182880"/>
            <a:ext cx="7680960" cy="54864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Internship Completion Certificate</a:t>
            </a:r>
            <a:endParaRPr lang="en-US" sz="2800" dirty="0"/>
          </a:p>
        </p:txBody>
      </p:sp>
      <p:pic>
        <p:nvPicPr>
          <p:cNvPr id="3" name="Image 0" descr="EduSkills internship certificate for Sanjiv Singh">    </p:cNvPr>
          <p:cNvPicPr>
            <a:picLocks noChangeAspect="1"/>
          </p:cNvPicPr>
          <p:nvPr/>
        </p:nvPicPr>
        <p:blipFill>
          <a:blip r:embed="rId1"/>
          <a:stretch>
            <a:fillRect/>
          </a:stretch>
        </p:blipFill>
        <p:spPr>
          <a:xfrm>
            <a:off x="822960" y="914400"/>
            <a:ext cx="4937760" cy="3491179"/>
          </a:xfrm>
          <a:prstGeom prst="rect">
            <a:avLst/>
          </a:prstGeom>
        </p:spPr>
      </p:pic>
      <p:sp>
        <p:nvSpPr>
          <p:cNvPr id="4" name="Certificate facts"/>
          <p:cNvSpPr/>
          <p:nvPr/>
        </p:nvSpPr>
        <p:spPr>
          <a:xfrm>
            <a:off x="6035040" y="914400"/>
            <a:ext cx="2651760" cy="3493008"/>
          </a:xfrm>
          <a:prstGeom prst="rect">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217920" y="1005840"/>
            <a:ext cx="2331720" cy="3291840"/>
          </a:xfrm>
          <a:prstGeom prst="rect">
            <a:avLst/>
          </a:prstGeom>
          <a:noFill/>
          <a:ln/>
        </p:spPr>
        <p:txBody>
          <a:bodyPr wrap="square" lIns="0" tIns="0" rIns="0" bIns="0" rtlCol="0" anchor="t"/>
          <a:lstStyle/>
          <a:p>
            <a:pPr indent="0" marL="0">
              <a:buNone/>
            </a:pPr>
            <a:r>
              <a:rPr lang="en-US" sz="1400" b="1" dirty="0">
                <a:solidFill>
                  <a:schemeClr val="accent1"/>
                </a:solidFill>
              </a:rPr>
              <a:t>Issued by</a:t>
            </a:r>
            <a:endParaRPr lang="en-US" sz="1400" dirty="0"/>
          </a:p>
          <a:p>
            <a:pPr indent="0" marL="0">
              <a:buNone/>
            </a:pPr>
            <a:r>
              <a:rPr lang="en-US" sz="1400" dirty="0">
                <a:solidFill>
                  <a:schemeClr val="tx1"/>
                </a:solidFill>
              </a:rPr>
              <a:t>EduSkills Academy</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Issued on</a:t>
            </a:r>
            <a:endParaRPr lang="en-US" sz="1400" dirty="0"/>
          </a:p>
          <a:p>
            <a:pPr indent="0" marL="0">
              <a:buNone/>
            </a:pPr>
            <a:r>
              <a:rPr lang="en-US" sz="1400" dirty="0">
                <a:solidFill>
                  <a:schemeClr val="tx1"/>
                </a:solidFill>
              </a:rPr>
              <a:t>03 October 2026</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Certificate ID</a:t>
            </a:r>
            <a:endParaRPr lang="en-US" sz="1400" dirty="0"/>
          </a:p>
          <a:p>
            <a:pPr indent="0" marL="0">
              <a:buNone/>
            </a:pPr>
            <a:r>
              <a:rPr lang="en-US" sz="1400" dirty="0">
                <a:solidFill>
                  <a:schemeClr val="tx1"/>
                </a:solidFill>
              </a:rPr>
              <a:t>2026-7A8ADAE9E5</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Project</a:t>
            </a:r>
            <a:endParaRPr lang="en-US" sz="1400" dirty="0"/>
          </a:p>
          <a:p>
            <a:pPr indent="0" marL="0">
              <a:buNone/>
            </a:pPr>
            <a:r>
              <a:rPr lang="en-US" sz="1400" dirty="0">
                <a:solidFill>
                  <a:schemeClr val="tx1"/>
                </a:solidFill>
              </a:rPr>
              <a:t>Text Search Indexer</a:t>
            </a:r>
            <a:endParaRPr lang="en-US" sz="1400" dirty="0"/>
          </a:p>
        </p:txBody>
      </p:sp>
      <p:sp>
        <p:nvSpPr>
          <p:cNvPr id="25" name="Slide Number Placeholder 0"/>
          <p:cNvSpPr>
            <a:spLocks noGrp="1"/>
          </p:cNvSpPr>
          <p:nvPr>
            <p:ph type="sldNum" sz="quarter" idx="4294967295"/>
          </p:nvPr>
        </p:nvSpPr>
        <p:spPr>
          <a:xfrm>
            <a:off x="8229600" y="4754880"/>
            <a:ext cx="54864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914400" y="1554480"/>
            <a:ext cx="7315200" cy="914400"/>
          </a:xfrm>
          <a:prstGeom prst="rect">
            <a:avLst/>
          </a:prstGeom>
          <a:noFill/>
          <a:ln/>
        </p:spPr>
        <p:txBody>
          <a:bodyPr wrap="square" lIns="0" tIns="0" rIns="0" bIns="0" rtlCol="0" anchor="ctr"/>
          <a:lstStyle/>
          <a:p>
            <a:pPr algn="ctr"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914400" y="2514600"/>
            <a:ext cx="7315200" cy="457200"/>
          </a:xfrm>
          <a:prstGeom prst="rect">
            <a:avLst/>
          </a:prstGeom>
          <a:noFill/>
          <a:ln/>
        </p:spPr>
        <p:txBody>
          <a:bodyPr wrap="square" lIns="0" tIns="0" rIns="0" bIns="0" rtlCol="0" anchor="ctr"/>
          <a:lstStyle/>
          <a:p>
            <a:pPr algn="ctr" indent="0" marL="0">
              <a:buNone/>
            </a:pPr>
            <a:r>
              <a:rPr lang="en-US" sz="2000" dirty="0">
                <a:solidFill>
                  <a:schemeClr val="accent6"/>
                </a:solidFill>
              </a:rPr>
              <a:t>Questions &amp; Discussion</a:t>
            </a:r>
            <a:endParaRPr lang="en-US" sz="2000" dirty="0"/>
          </a:p>
        </p:txBody>
      </p:sp>
      <p:sp>
        <p:nvSpPr>
          <p:cNvPr id="4" name="Text 2"/>
          <p:cNvSpPr txBox="1"/>
          <p:nvPr/>
        </p:nvSpPr>
        <p:spPr>
          <a:xfrm>
            <a:off x="914400" y="3931920"/>
            <a:ext cx="7315200" cy="365760"/>
          </a:xfrm>
          <a:prstGeom prst="rect">
            <a:avLst/>
          </a:prstGeom>
          <a:noFill/>
          <a:ln/>
        </p:spPr>
        <p:txBody>
          <a:bodyPr wrap="square" lIns="0" tIns="0" rIns="0" bIns="0" rtlCol="0" anchor="ctr"/>
          <a:lstStyle/>
          <a:p>
            <a:pPr algn="ctr" indent="0" marL="0">
              <a:buNone/>
            </a:pPr>
            <a:r>
              <a:rPr lang="en-US" sz="1300" dirty="0">
                <a:solidFill>
                  <a:schemeClr val="bg1"/>
                </a:solidFill>
              </a:rPr>
              <a:t>Sanjiv Singh  |  Roll No. 2410031649  |  B.Tech CSE, IILM University, Greater Noida</a:t>
            </a:r>
            <a:endParaRPr lang="en-US" sz="1300" dirty="0"/>
          </a:p>
        </p:txBody>
      </p:sp>
      <p:sp>
        <p:nvSpPr>
          <p:cNvPr id="5" name="Text 3"/>
          <p:cNvSpPr txBox="1"/>
          <p:nvPr/>
        </p:nvSpPr>
        <p:spPr>
          <a:xfrm>
            <a:off x="914400" y="4297680"/>
            <a:ext cx="7315200" cy="365760"/>
          </a:xfrm>
          <a:prstGeom prst="rect">
            <a:avLst/>
          </a:prstGeom>
          <a:noFill/>
          <a:ln/>
        </p:spPr>
        <p:txBody>
          <a:bodyPr wrap="square" lIns="0" tIns="0" rIns="0" bIns="0" rtlCol="0" anchor="ctr"/>
          <a:lstStyle/>
          <a:p>
            <a:pPr algn="ctr" indent="0" marL="0">
              <a:buNone/>
            </a:pPr>
            <a:r>
              <a:rPr lang="en-US" sz="1200" dirty="0">
                <a:solidFill>
                  <a:schemeClr val="accent6"/>
                </a:solidFill>
              </a:rPr>
              <a:t>Thanks to AICTE, EduSkills, my industry mentor and the Department of Computer Science.</a:t>
            </a:r>
            <a:endParaRPr lang="en-US" sz="1200" dirty="0"/>
          </a:p>
        </p:txBody>
      </p:sp>
    </p:spTree>
  </p:cSld>
  <p:clrMapOvr>
    <a:masterClrMapping/>
  </p:clrMapOvr>
</p:sld>
</file>

<file path=ppt/theme/theme1.xml><?xml version="1.0" encoding="utf-8"?>
<a:theme xmlns:a="http://schemas.openxmlformats.org/drawingml/2006/main" name="IILM Internship">
  <a:themeElements>
    <a:clrScheme name="IILM Internship">
      <a:dk1>
        <a:srgbClr val="1B1B2F"/>
      </a:dk1>
      <a:lt1>
        <a:srgbClr val="FFFFFF"/>
      </a:lt1>
      <a:dk2>
        <a:srgbClr val="1F2F5C"/>
      </a:dk2>
      <a:lt2>
        <a:srgbClr val="F5F0F1"/>
      </a:lt2>
      <a:accent1>
        <a:srgbClr val="8B1E2D"/>
      </a:accent1>
      <a:accent2>
        <a:srgbClr val="2E4A8A"/>
      </a:accent2>
      <a:accent3>
        <a:srgbClr val="C9A227"/>
      </a:accent3>
      <a:accent4>
        <a:srgbClr val="2A7F7F"/>
      </a:accent4>
      <a:accent5>
        <a:srgbClr val="6B7280"/>
      </a:accent5>
      <a:accent6>
        <a:srgbClr val="EBD9DC"/>
      </a:accent6>
      <a:hlink>
        <a:srgbClr val="2E4A8A"/>
      </a:hlink>
      <a:folHlink>
        <a:srgbClr val="6B7280"/>
      </a:folHlink>
    </a:clrScheme>
    <a:fontScheme name="IILM Internshi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MERN Full Stack Development Virtual Internship</dc:title>
  <dc:subject>PptxGenJS Presentation</dc:subject>
  <dc:creator>Sanjiv Singh</dc:creator>
  <cp:lastModifiedBy>Sanjiv Singh</cp:lastModifiedBy>
  <cp:revision>1</cp:revision>
  <dcterms:created xsi:type="dcterms:W3CDTF">2026-10-22T20:01:51Z</dcterms:created>
  <dcterms:modified xsi:type="dcterms:W3CDTF">2026-10-22T20:01:51Z</dcterms:modified>
</cp:coreProperties>
</file>